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1375" r:id="rId2"/>
    <p:sldId id="446" r:id="rId3"/>
    <p:sldId id="1378" r:id="rId4"/>
    <p:sldId id="1382" r:id="rId5"/>
    <p:sldId id="1385" r:id="rId6"/>
    <p:sldId id="1383" r:id="rId7"/>
    <p:sldId id="1386" r:id="rId8"/>
    <p:sldId id="13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1"/>
  </p:normalViewPr>
  <p:slideViewPr>
    <p:cSldViewPr snapToGrid="0">
      <p:cViewPr varScale="1">
        <p:scale>
          <a:sx n="99" d="100"/>
          <a:sy n="99" d="100"/>
        </p:scale>
        <p:origin x="1056" y="184"/>
      </p:cViewPr>
      <p:guideLst/>
    </p:cSldViewPr>
  </p:slideViewPr>
  <p:notesTextViewPr>
    <p:cViewPr>
      <p:scale>
        <a:sx n="1" d="1"/>
        <a:sy n="1" d="1"/>
      </p:scale>
      <p:origin x="0" y="0"/>
    </p:cViewPr>
  </p:notesTextViewPr>
  <p:notesViewPr>
    <p:cSldViewPr snapToGrid="0">
      <p:cViewPr varScale="1">
        <p:scale>
          <a:sx n="81" d="100"/>
          <a:sy n="81" d="100"/>
        </p:scale>
        <p:origin x="389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7CA65-A9BE-4F71-910D-92DD10D60B35}" type="datetimeFigureOut">
              <a:rPr lang="en-US" smtClean="0"/>
              <a:t>8/22/21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986D9-D983-4FF6-8B86-E6AC8C35626C}" type="slidenum">
              <a:rPr lang="en-US" smtClean="0"/>
              <a:t>‹#›</a:t>
            </a:fld>
            <a:endParaRPr lang="en-US"/>
          </a:p>
        </p:txBody>
      </p:sp>
    </p:spTree>
    <p:extLst>
      <p:ext uri="{BB962C8B-B14F-4D97-AF65-F5344CB8AC3E}">
        <p14:creationId xmlns:p14="http://schemas.microsoft.com/office/powerpoint/2010/main" val="72003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287988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2431804"/>
            <a:ext cx="10515600" cy="1994392"/>
          </a:xfrm>
          <a:prstGeom prst="rect">
            <a:avLst/>
          </a:prstGeom>
        </p:spPr>
        <p:txBody>
          <a:bodyPr lIns="0" tIns="0" rIns="0" bIns="0" anchor="ctr" anchorCtr="0">
            <a:spAutoFit/>
          </a:bodyPr>
          <a:lstStyle>
            <a:lvl1pPr>
              <a:defRPr lang="en-US" sz="7200" dirty="0">
                <a:solidFill>
                  <a:schemeClr val="tx2"/>
                </a:solidFill>
                <a:effectLst>
                  <a:glow rad="635000">
                    <a:schemeClr val="bg2">
                      <a:alpha val="20000"/>
                    </a:schemeClr>
                  </a:glow>
                </a:effectLst>
                <a:latin typeface="Arial" panose="020B0604020202020204" pitchFamily="34" charset="0"/>
              </a:defRPr>
            </a:lvl1pPr>
          </a:lstStyle>
          <a:p>
            <a:pPr lvl="0"/>
            <a:r>
              <a:rPr lang="en-US"/>
              <a:t>Click to edit Master title style</a:t>
            </a:r>
            <a:endParaRPr lang="en-US" dirty="0"/>
          </a:p>
        </p:txBody>
      </p:sp>
      <p:pic>
        <p:nvPicPr>
          <p:cNvPr id="6" name="Picture 4">
            <a:extLst>
              <a:ext uri="{FF2B5EF4-FFF2-40B4-BE49-F238E27FC236}">
                <a16:creationId xmlns:a16="http://schemas.microsoft.com/office/drawing/2014/main" id="{B9AFAB18-9E19-466D-8FFC-EB6AB92B977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56979" y="5838462"/>
            <a:ext cx="1698171" cy="69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78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234">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11430000" cy="517064"/>
          </a:xfrm>
          <a:prstGeom prst="rect">
            <a:avLst/>
          </a:prstGeom>
        </p:spPr>
        <p:txBody>
          <a:bodyPr wrap="square" lIns="0" tIns="0" rIns="0" bIns="0">
            <a:spAutoFit/>
          </a:bodyPr>
          <a:lstStyle>
            <a:lvl1pPr>
              <a:defRPr sz="3733">
                <a:solidFill>
                  <a:schemeClr val="bg1"/>
                </a:solidFill>
                <a:latin typeface="Arial" panose="020B0604020202020204" pitchFamily="34" charset="0"/>
              </a:defRPr>
            </a:lvl1pPr>
          </a:lstStyle>
          <a:p>
            <a:r>
              <a:rPr lang="en-US" dirty="0"/>
              <a:t>Click to edit Master title style</a:t>
            </a:r>
          </a:p>
        </p:txBody>
      </p:sp>
      <p:sp>
        <p:nvSpPr>
          <p:cNvPr id="12" name="Rectangle 11">
            <a:extLst>
              <a:ext uri="{FF2B5EF4-FFF2-40B4-BE49-F238E27FC236}">
                <a16:creationId xmlns:a16="http://schemas.microsoft.com/office/drawing/2014/main" id="{76D80EA6-8FC8-4405-8BB5-0F2F8690B845}"/>
              </a:ext>
              <a:ext uri="{C183D7F6-B498-43B3-948B-1728B52AA6E4}">
                <adec:decorative xmlns:adec="http://schemas.microsoft.com/office/drawing/2017/decorative" val="1"/>
              </a:ext>
            </a:extLst>
          </p:cNvPr>
          <p:cNvSpPr/>
          <p:nvPr userDrawn="1"/>
        </p:nvSpPr>
        <p:spPr>
          <a:xfrm flipH="1">
            <a:off x="1752600" y="1371600"/>
            <a:ext cx="9372600" cy="1219200"/>
          </a:xfrm>
          <a:prstGeom prst="rect">
            <a:avLst/>
          </a:prstGeom>
          <a:gradFill>
            <a:gsLst>
              <a:gs pos="0">
                <a:schemeClr val="accent6"/>
              </a:gs>
              <a:gs pos="40000">
                <a:schemeClr val="bg1"/>
              </a:gs>
              <a:gs pos="100000">
                <a:schemeClr val="accent1"/>
              </a:gs>
            </a:gsLst>
            <a:lin ang="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2"/>
              </a:solidFill>
            </a:endParaRPr>
          </a:p>
        </p:txBody>
      </p:sp>
      <p:sp>
        <p:nvSpPr>
          <p:cNvPr id="53" name="Oval 52"/>
          <p:cNvSpPr>
            <a:spLocks noChangeAspect="1"/>
          </p:cNvSpPr>
          <p:nvPr userDrawn="1"/>
        </p:nvSpPr>
        <p:spPr>
          <a:xfrm>
            <a:off x="1143000" y="1373600"/>
            <a:ext cx="1216152" cy="1216152"/>
          </a:xfrm>
          <a:prstGeom prst="ellipse">
            <a:avLst/>
          </a:prstGeom>
          <a:gradFill>
            <a:gsLst>
              <a:gs pos="50000">
                <a:schemeClr val="accent3"/>
              </a:gs>
              <a:gs pos="100000">
                <a:schemeClr val="accent4"/>
              </a:gs>
              <a:gs pos="0">
                <a:schemeClr val="accent3">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4800" dirty="0">
                <a:solidFill>
                  <a:schemeClr val="bg2"/>
                </a:solidFill>
              </a:rPr>
              <a:t>1</a:t>
            </a:r>
          </a:p>
        </p:txBody>
      </p:sp>
      <p:sp>
        <p:nvSpPr>
          <p:cNvPr id="8" name="Content Placeholder 9"/>
          <p:cNvSpPr>
            <a:spLocks noGrp="1"/>
          </p:cNvSpPr>
          <p:nvPr>
            <p:ph sz="quarter" idx="17"/>
          </p:nvPr>
        </p:nvSpPr>
        <p:spPr>
          <a:xfrm>
            <a:off x="2590800" y="1372076"/>
            <a:ext cx="8534400" cy="1219200"/>
          </a:xfrm>
          <a:prstGeom prst="rect">
            <a:avLst/>
          </a:prstGeom>
        </p:spPr>
        <p:txBody>
          <a:bodyPr lIns="0" tIns="0" rIns="0" bIns="0" anchor="ctr" anchorCtr="0"/>
          <a:lstStyle>
            <a:lvl1pPr marL="0" indent="0">
              <a:lnSpc>
                <a:spcPct val="100000"/>
              </a:lnSpc>
              <a:spcBef>
                <a:spcPts val="533"/>
              </a:spcBef>
              <a:buClrTx/>
              <a:buFont typeface="Arial" panose="020B0604020202020204" pitchFamily="34" charset="0"/>
              <a:buNone/>
              <a:defRPr sz="2400">
                <a:solidFill>
                  <a:schemeClr val="tx2"/>
                </a:solidFill>
                <a:latin typeface="+mn-lt"/>
              </a:defRPr>
            </a:lvl1pPr>
            <a:lvl2pPr marL="455073" indent="-148163">
              <a:lnSpc>
                <a:spcPct val="100000"/>
              </a:lnSpc>
              <a:spcBef>
                <a:spcPts val="267"/>
              </a:spcBef>
              <a:buClrTx/>
              <a:buFont typeface="Arial" panose="020B0604020202020204" pitchFamily="34" charset="0"/>
              <a:buChar char="•"/>
              <a:tabLst/>
              <a:defRPr sz="1867">
                <a:solidFill>
                  <a:schemeClr val="tx2"/>
                </a:solidFill>
                <a:latin typeface="+mn-lt"/>
              </a:defRPr>
            </a:lvl2pPr>
            <a:lvl3pPr marL="455073" indent="-148163">
              <a:lnSpc>
                <a:spcPct val="100000"/>
              </a:lnSpc>
              <a:spcBef>
                <a:spcPts val="400"/>
              </a:spcBef>
              <a:buClrTx/>
              <a:buFont typeface="Arial" panose="020B0604020202020204" pitchFamily="34" charset="0"/>
              <a:buChar char="–"/>
              <a:defRPr sz="1200">
                <a:solidFill>
                  <a:schemeClr val="tx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dirty="0"/>
              <a:t>Click to edit Master text styles</a:t>
            </a:r>
          </a:p>
          <a:p>
            <a:pPr lvl="1"/>
            <a:r>
              <a:rPr lang="en-US" dirty="0"/>
              <a:t>Second level</a:t>
            </a:r>
          </a:p>
        </p:txBody>
      </p:sp>
      <p:sp>
        <p:nvSpPr>
          <p:cNvPr id="14" name="Rectangle 13">
            <a:extLst>
              <a:ext uri="{FF2B5EF4-FFF2-40B4-BE49-F238E27FC236}">
                <a16:creationId xmlns:a16="http://schemas.microsoft.com/office/drawing/2014/main" id="{B02122A0-9057-446F-8F83-7183AAC97C80}"/>
              </a:ext>
              <a:ext uri="{C183D7F6-B498-43B3-948B-1728B52AA6E4}">
                <adec:decorative xmlns:adec="http://schemas.microsoft.com/office/drawing/2017/decorative" val="1"/>
              </a:ext>
            </a:extLst>
          </p:cNvPr>
          <p:cNvSpPr/>
          <p:nvPr userDrawn="1"/>
        </p:nvSpPr>
        <p:spPr>
          <a:xfrm flipH="1">
            <a:off x="1752600" y="2895600"/>
            <a:ext cx="9372600" cy="1219200"/>
          </a:xfrm>
          <a:prstGeom prst="rect">
            <a:avLst/>
          </a:prstGeom>
          <a:gradFill>
            <a:gsLst>
              <a:gs pos="0">
                <a:schemeClr val="accent6"/>
              </a:gs>
              <a:gs pos="40000">
                <a:schemeClr val="bg1"/>
              </a:gs>
              <a:gs pos="100000">
                <a:schemeClr val="accent1"/>
              </a:gs>
            </a:gsLst>
            <a:lin ang="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2"/>
              </a:solidFill>
            </a:endParaRPr>
          </a:p>
        </p:txBody>
      </p:sp>
      <p:sp>
        <p:nvSpPr>
          <p:cNvPr id="45" name="Oval 44">
            <a:extLst>
              <a:ext uri="{FF2B5EF4-FFF2-40B4-BE49-F238E27FC236}">
                <a16:creationId xmlns:a16="http://schemas.microsoft.com/office/drawing/2014/main" id="{6DF87A3A-2455-4908-8A98-EA026C97A8A3}"/>
              </a:ext>
            </a:extLst>
          </p:cNvPr>
          <p:cNvSpPr>
            <a:spLocks noChangeAspect="1"/>
          </p:cNvSpPr>
          <p:nvPr userDrawn="1"/>
        </p:nvSpPr>
        <p:spPr>
          <a:xfrm>
            <a:off x="1143000" y="2896648"/>
            <a:ext cx="1216152" cy="1216152"/>
          </a:xfrm>
          <a:prstGeom prst="ellipse">
            <a:avLst/>
          </a:prstGeom>
          <a:gradFill>
            <a:gsLst>
              <a:gs pos="50000">
                <a:schemeClr val="accent3"/>
              </a:gs>
              <a:gs pos="100000">
                <a:schemeClr val="accent4"/>
              </a:gs>
              <a:gs pos="0">
                <a:schemeClr val="accent3">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4800" dirty="0">
                <a:solidFill>
                  <a:schemeClr val="bg2"/>
                </a:solidFill>
              </a:rPr>
              <a:t>2</a:t>
            </a:r>
          </a:p>
        </p:txBody>
      </p:sp>
      <p:sp>
        <p:nvSpPr>
          <p:cNvPr id="52" name="Content Placeholder 9">
            <a:extLst>
              <a:ext uri="{FF2B5EF4-FFF2-40B4-BE49-F238E27FC236}">
                <a16:creationId xmlns:a16="http://schemas.microsoft.com/office/drawing/2014/main" id="{889D1083-1BD7-4414-BCB3-D51733A463F3}"/>
              </a:ext>
            </a:extLst>
          </p:cNvPr>
          <p:cNvSpPr>
            <a:spLocks noGrp="1"/>
          </p:cNvSpPr>
          <p:nvPr>
            <p:ph sz="quarter" idx="18"/>
          </p:nvPr>
        </p:nvSpPr>
        <p:spPr>
          <a:xfrm>
            <a:off x="2590800" y="2895124"/>
            <a:ext cx="8534400" cy="1219200"/>
          </a:xfrm>
          <a:prstGeom prst="rect">
            <a:avLst/>
          </a:prstGeom>
        </p:spPr>
        <p:txBody>
          <a:bodyPr lIns="0" tIns="0" rIns="0" bIns="0" anchor="ctr" anchorCtr="0"/>
          <a:lstStyle>
            <a:lvl1pPr marL="0" indent="0">
              <a:lnSpc>
                <a:spcPct val="100000"/>
              </a:lnSpc>
              <a:spcBef>
                <a:spcPts val="533"/>
              </a:spcBef>
              <a:buClrTx/>
              <a:buFont typeface="Arial" panose="020B0604020202020204" pitchFamily="34" charset="0"/>
              <a:buNone/>
              <a:defRPr sz="2400">
                <a:solidFill>
                  <a:schemeClr val="tx2"/>
                </a:solidFill>
                <a:latin typeface="+mn-lt"/>
              </a:defRPr>
            </a:lvl1pPr>
            <a:lvl2pPr marL="455073" indent="-148163">
              <a:lnSpc>
                <a:spcPct val="100000"/>
              </a:lnSpc>
              <a:spcBef>
                <a:spcPts val="267"/>
              </a:spcBef>
              <a:buClrTx/>
              <a:buFont typeface="Arial" panose="020B0604020202020204" pitchFamily="34" charset="0"/>
              <a:buChar char="•"/>
              <a:tabLst/>
              <a:defRPr sz="1867">
                <a:solidFill>
                  <a:schemeClr val="tx2"/>
                </a:solidFill>
                <a:latin typeface="+mn-lt"/>
              </a:defRPr>
            </a:lvl2pPr>
            <a:lvl3pPr marL="455073" indent="-148163">
              <a:lnSpc>
                <a:spcPct val="100000"/>
              </a:lnSpc>
              <a:spcBef>
                <a:spcPts val="400"/>
              </a:spcBef>
              <a:buClrTx/>
              <a:buFont typeface="Arial" panose="020B0604020202020204" pitchFamily="34" charset="0"/>
              <a:buChar char="–"/>
              <a:defRPr sz="1200">
                <a:solidFill>
                  <a:schemeClr val="tx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dirty="0"/>
              <a:t>Click to edit Master text styles</a:t>
            </a:r>
          </a:p>
          <a:p>
            <a:pPr lvl="1"/>
            <a:r>
              <a:rPr lang="en-US" dirty="0"/>
              <a:t>Second level</a:t>
            </a:r>
          </a:p>
        </p:txBody>
      </p:sp>
      <p:sp>
        <p:nvSpPr>
          <p:cNvPr id="13" name="Rectangle 12">
            <a:extLst>
              <a:ext uri="{FF2B5EF4-FFF2-40B4-BE49-F238E27FC236}">
                <a16:creationId xmlns:a16="http://schemas.microsoft.com/office/drawing/2014/main" id="{8BF2F136-708F-4975-A108-C7FD7B89926D}"/>
              </a:ext>
              <a:ext uri="{C183D7F6-B498-43B3-948B-1728B52AA6E4}">
                <adec:decorative xmlns:adec="http://schemas.microsoft.com/office/drawing/2017/decorative" val="1"/>
              </a:ext>
            </a:extLst>
          </p:cNvPr>
          <p:cNvSpPr/>
          <p:nvPr userDrawn="1"/>
        </p:nvSpPr>
        <p:spPr>
          <a:xfrm flipH="1">
            <a:off x="1752600" y="4419600"/>
            <a:ext cx="9372600" cy="1219200"/>
          </a:xfrm>
          <a:prstGeom prst="rect">
            <a:avLst/>
          </a:prstGeom>
          <a:gradFill>
            <a:gsLst>
              <a:gs pos="0">
                <a:schemeClr val="accent6"/>
              </a:gs>
              <a:gs pos="40000">
                <a:schemeClr val="bg1"/>
              </a:gs>
              <a:gs pos="100000">
                <a:schemeClr val="accent1"/>
              </a:gs>
            </a:gsLst>
            <a:lin ang="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2"/>
              </a:solidFill>
            </a:endParaRPr>
          </a:p>
        </p:txBody>
      </p:sp>
      <p:sp>
        <p:nvSpPr>
          <p:cNvPr id="58" name="Oval 57">
            <a:extLst>
              <a:ext uri="{FF2B5EF4-FFF2-40B4-BE49-F238E27FC236}">
                <a16:creationId xmlns:a16="http://schemas.microsoft.com/office/drawing/2014/main" id="{E9E156D1-8A25-4CD8-8C29-6D8CDBC9FD67}"/>
              </a:ext>
            </a:extLst>
          </p:cNvPr>
          <p:cNvSpPr>
            <a:spLocks noChangeAspect="1"/>
          </p:cNvSpPr>
          <p:nvPr userDrawn="1"/>
        </p:nvSpPr>
        <p:spPr>
          <a:xfrm>
            <a:off x="1143000" y="4420648"/>
            <a:ext cx="1216152" cy="1216152"/>
          </a:xfrm>
          <a:prstGeom prst="ellipse">
            <a:avLst/>
          </a:prstGeom>
          <a:gradFill>
            <a:gsLst>
              <a:gs pos="50000">
                <a:schemeClr val="accent3"/>
              </a:gs>
              <a:gs pos="100000">
                <a:schemeClr val="accent4"/>
              </a:gs>
              <a:gs pos="0">
                <a:schemeClr val="accent3">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4800" dirty="0">
                <a:solidFill>
                  <a:schemeClr val="bg2"/>
                </a:solidFill>
              </a:rPr>
              <a:t>3</a:t>
            </a:r>
          </a:p>
        </p:txBody>
      </p:sp>
      <p:sp>
        <p:nvSpPr>
          <p:cNvPr id="59" name="Content Placeholder 9">
            <a:extLst>
              <a:ext uri="{FF2B5EF4-FFF2-40B4-BE49-F238E27FC236}">
                <a16:creationId xmlns:a16="http://schemas.microsoft.com/office/drawing/2014/main" id="{D67C4B42-9AEF-4553-836F-730C9CF32F30}"/>
              </a:ext>
            </a:extLst>
          </p:cNvPr>
          <p:cNvSpPr>
            <a:spLocks noGrp="1"/>
          </p:cNvSpPr>
          <p:nvPr>
            <p:ph sz="quarter" idx="19"/>
          </p:nvPr>
        </p:nvSpPr>
        <p:spPr>
          <a:xfrm>
            <a:off x="2590800" y="4419124"/>
            <a:ext cx="8534400" cy="1219200"/>
          </a:xfrm>
          <a:prstGeom prst="rect">
            <a:avLst/>
          </a:prstGeom>
        </p:spPr>
        <p:txBody>
          <a:bodyPr lIns="0" tIns="0" rIns="0" bIns="0" anchor="ctr" anchorCtr="0"/>
          <a:lstStyle>
            <a:lvl1pPr marL="0" indent="0">
              <a:lnSpc>
                <a:spcPct val="100000"/>
              </a:lnSpc>
              <a:spcBef>
                <a:spcPts val="533"/>
              </a:spcBef>
              <a:buClrTx/>
              <a:buFont typeface="Arial" panose="020B0604020202020204" pitchFamily="34" charset="0"/>
              <a:buNone/>
              <a:defRPr sz="2400">
                <a:solidFill>
                  <a:schemeClr val="tx2"/>
                </a:solidFill>
                <a:latin typeface="+mn-lt"/>
              </a:defRPr>
            </a:lvl1pPr>
            <a:lvl2pPr marL="455073" indent="-148163">
              <a:lnSpc>
                <a:spcPct val="100000"/>
              </a:lnSpc>
              <a:spcBef>
                <a:spcPts val="267"/>
              </a:spcBef>
              <a:buClrTx/>
              <a:buFont typeface="Arial" panose="020B0604020202020204" pitchFamily="34" charset="0"/>
              <a:buChar char="•"/>
              <a:tabLst/>
              <a:defRPr sz="1867">
                <a:solidFill>
                  <a:schemeClr val="tx2"/>
                </a:solidFill>
                <a:latin typeface="+mn-lt"/>
              </a:defRPr>
            </a:lvl2pPr>
            <a:lvl3pPr marL="455073" indent="-148163">
              <a:lnSpc>
                <a:spcPct val="100000"/>
              </a:lnSpc>
              <a:spcBef>
                <a:spcPts val="400"/>
              </a:spcBef>
              <a:buClrTx/>
              <a:buFont typeface="Arial" panose="020B0604020202020204" pitchFamily="34" charset="0"/>
              <a:buChar char="–"/>
              <a:defRPr sz="1200">
                <a:solidFill>
                  <a:schemeClr val="tx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dirty="0"/>
              <a:t>Click to edit Master text styles</a:t>
            </a:r>
          </a:p>
          <a:p>
            <a:pPr lvl="1"/>
            <a:r>
              <a:rPr lang="en-US" dirty="0"/>
              <a:t>Second level</a:t>
            </a:r>
          </a:p>
        </p:txBody>
      </p:sp>
      <p:pic>
        <p:nvPicPr>
          <p:cNvPr id="16" name="Picture 2">
            <a:extLst>
              <a:ext uri="{FF2B5EF4-FFF2-40B4-BE49-F238E27FC236}">
                <a16:creationId xmlns:a16="http://schemas.microsoft.com/office/drawing/2014/main" id="{E54779EC-F183-45C9-AD0C-9164B1775938}"/>
              </a:ext>
            </a:extLst>
          </p:cNvPr>
          <p:cNvPicPr>
            <a:picLocks noChangeAspect="1" noChangeArrowheads="1"/>
          </p:cNvPicPr>
          <p:nvPr userDrawn="1"/>
        </p:nvPicPr>
        <p:blipFill>
          <a:blip r:embed="rId2">
            <a:alphaModFix amt="58000"/>
            <a:extLst>
              <a:ext uri="{28A0092B-C50C-407E-A947-70E740481C1C}">
                <a14:useLocalDpi xmlns:a14="http://schemas.microsoft.com/office/drawing/2010/main" val="0"/>
              </a:ext>
            </a:extLst>
          </a:blip>
          <a:srcRect/>
          <a:stretch>
            <a:fillRect/>
          </a:stretch>
        </p:blipFill>
        <p:spPr bwMode="auto">
          <a:xfrm>
            <a:off x="10372728" y="5854045"/>
            <a:ext cx="1630736" cy="666946"/>
          </a:xfrm>
          <a:prstGeom prst="rect">
            <a:avLst/>
          </a:prstGeom>
          <a:noFill/>
        </p:spPr>
      </p:pic>
    </p:spTree>
    <p:extLst>
      <p:ext uri="{BB962C8B-B14F-4D97-AF65-F5344CB8AC3E}">
        <p14:creationId xmlns:p14="http://schemas.microsoft.com/office/powerpoint/2010/main" val="22624660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bar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3083B9-B011-4088-9915-EA423CD7E4CE}"/>
              </a:ext>
              <a:ext uri="{C183D7F6-B498-43B3-948B-1728B52AA6E4}">
                <adec:decorative xmlns:adec="http://schemas.microsoft.com/office/drawing/2017/decorative" val="1"/>
              </a:ext>
            </a:extLst>
          </p:cNvPr>
          <p:cNvSpPr/>
          <p:nvPr userDrawn="1"/>
        </p:nvSpPr>
        <p:spPr>
          <a:xfrm>
            <a:off x="0" y="0"/>
            <a:ext cx="12192000" cy="1600200"/>
          </a:xfrm>
          <a:prstGeom prst="rect">
            <a:avLst/>
          </a:prstGeom>
          <a:gradFill>
            <a:gsLst>
              <a:gs pos="0">
                <a:schemeClr val="accent6"/>
              </a:gs>
              <a:gs pos="26000">
                <a:schemeClr val="bg1"/>
              </a:gs>
              <a:gs pos="100000">
                <a:schemeClr val="accent1"/>
              </a:gs>
            </a:gsLst>
            <a:lin ang="36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2"/>
              </a:solidFill>
            </a:endParaRPr>
          </a:p>
        </p:txBody>
      </p:sp>
      <p:sp>
        <p:nvSpPr>
          <p:cNvPr id="6" name="Title 1">
            <a:extLst>
              <a:ext uri="{FF2B5EF4-FFF2-40B4-BE49-F238E27FC236}">
                <a16:creationId xmlns:a16="http://schemas.microsoft.com/office/drawing/2014/main" id="{406380C4-5271-4906-B38E-E23B3CA3967A}"/>
              </a:ext>
            </a:extLst>
          </p:cNvPr>
          <p:cNvSpPr>
            <a:spLocks noGrp="1"/>
          </p:cNvSpPr>
          <p:nvPr>
            <p:ph type="title"/>
          </p:nvPr>
        </p:nvSpPr>
        <p:spPr>
          <a:xfrm>
            <a:off x="381000" y="541568"/>
            <a:ext cx="11430000" cy="517064"/>
          </a:xfrm>
          <a:prstGeom prst="rect">
            <a:avLst/>
          </a:prstGeom>
        </p:spPr>
        <p:txBody>
          <a:bodyPr wrap="square" lIns="0" tIns="0" rIns="0" bIns="0" anchor="ctr" anchorCtr="0">
            <a:spAutoFit/>
          </a:bodyPr>
          <a:lstStyle>
            <a:lvl1pPr>
              <a:defRPr sz="3733">
                <a:solidFill>
                  <a:schemeClr val="tx2"/>
                </a:solidFill>
                <a:latin typeface="Arial" panose="020B0604020202020204" pitchFamily="34" charset="0"/>
              </a:defRPr>
            </a:lvl1pPr>
          </a:lstStyle>
          <a:p>
            <a:r>
              <a:rPr lang="en-US"/>
              <a:t>Click to edit Master title style</a:t>
            </a:r>
            <a:endParaRPr lang="en-US" dirty="0"/>
          </a:p>
        </p:txBody>
      </p:sp>
      <p:pic>
        <p:nvPicPr>
          <p:cNvPr id="1026" name="Picture 2">
            <a:extLst>
              <a:ext uri="{FF2B5EF4-FFF2-40B4-BE49-F238E27FC236}">
                <a16:creationId xmlns:a16="http://schemas.microsoft.com/office/drawing/2014/main" id="{EAF4AEB6-865B-4C34-9AD6-140625CD26EA}"/>
              </a:ext>
            </a:extLst>
          </p:cNvPr>
          <p:cNvPicPr>
            <a:picLocks noChangeAspect="1" noChangeArrowheads="1"/>
          </p:cNvPicPr>
          <p:nvPr userDrawn="1"/>
        </p:nvPicPr>
        <p:blipFill>
          <a:blip r:embed="rId2">
            <a:alphaModFix amt="58000"/>
            <a:extLst>
              <a:ext uri="{28A0092B-C50C-407E-A947-70E740481C1C}">
                <a14:useLocalDpi xmlns:a14="http://schemas.microsoft.com/office/drawing/2010/main" val="0"/>
              </a:ext>
            </a:extLst>
          </a:blip>
          <a:srcRect/>
          <a:stretch>
            <a:fillRect/>
          </a:stretch>
        </p:blipFill>
        <p:spPr bwMode="auto">
          <a:xfrm>
            <a:off x="10372728" y="5854045"/>
            <a:ext cx="1630736" cy="666946"/>
          </a:xfrm>
          <a:prstGeom prst="rect">
            <a:avLst/>
          </a:prstGeom>
          <a:noFill/>
        </p:spPr>
      </p:pic>
    </p:spTree>
    <p:extLst>
      <p:ext uri="{BB962C8B-B14F-4D97-AF65-F5344CB8AC3E}">
        <p14:creationId xmlns:p14="http://schemas.microsoft.com/office/powerpoint/2010/main" val="950787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gradient bkgd">
    <p:bg>
      <p:bgPr>
        <a:gradFill>
          <a:gsLst>
            <a:gs pos="0">
              <a:schemeClr val="accent6"/>
            </a:gs>
            <a:gs pos="26000">
              <a:schemeClr val="bg1"/>
            </a:gs>
            <a:gs pos="100000">
              <a:schemeClr val="accent1"/>
            </a:gs>
          </a:gsLst>
          <a:lin ang="2700000" scaled="0"/>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926025D-69CA-46ED-B6D1-60EE56CC5A3E}"/>
              </a:ext>
            </a:extLst>
          </p:cNvPr>
          <p:cNvSpPr>
            <a:spLocks noGrp="1"/>
          </p:cNvSpPr>
          <p:nvPr>
            <p:ph type="title"/>
          </p:nvPr>
        </p:nvSpPr>
        <p:spPr>
          <a:xfrm>
            <a:off x="838200" y="-457200"/>
            <a:ext cx="10515600" cy="395816"/>
          </a:xfrm>
          <a:prstGeom prst="rect">
            <a:avLst/>
          </a:prstGeom>
        </p:spPr>
        <p:txBody>
          <a:bodyPr/>
          <a:lstStyle>
            <a:lvl1pPr algn="ctr">
              <a:defRPr sz="2400"/>
            </a:lvl1pPr>
          </a:lstStyle>
          <a:p>
            <a:r>
              <a:rPr lang="en-US"/>
              <a:t>Click to edit Master title style</a:t>
            </a:r>
          </a:p>
        </p:txBody>
      </p:sp>
      <p:pic>
        <p:nvPicPr>
          <p:cNvPr id="9" name="Picture 4">
            <a:extLst>
              <a:ext uri="{FF2B5EF4-FFF2-40B4-BE49-F238E27FC236}">
                <a16:creationId xmlns:a16="http://schemas.microsoft.com/office/drawing/2014/main" id="{27CC5DC2-F1F4-47C9-9183-F626443A637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56979" y="5838462"/>
            <a:ext cx="1698171" cy="69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61088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fl" descr="                              Dell - Internal Use - Confidential&#10;"/>
          <p:cNvSpPr txBox="1"/>
          <p:nvPr userDrawn="1"/>
        </p:nvSpPr>
        <p:spPr>
          <a:xfrm>
            <a:off x="5600137" y="6696353"/>
            <a:ext cx="1009892" cy="92398"/>
          </a:xfrm>
          <a:prstGeom prst="rect">
            <a:avLst/>
          </a:prstGeom>
          <a:noFill/>
        </p:spPr>
        <p:txBody>
          <a:bodyPr vert="horz" wrap="none" lIns="0" tIns="0" rIns="0" bIns="0" rtlCol="0" anchor="ctr" anchorCtr="0">
            <a:spAutoFit/>
          </a:bodyPr>
          <a:lstStyle/>
          <a:p>
            <a:pPr marL="0" marR="0" indent="0" algn="l" defTabSz="1219170" rtl="0" eaLnBrk="1" fontAlgn="base" latinLnBrk="0" hangingPunct="1">
              <a:lnSpc>
                <a:spcPct val="90000"/>
              </a:lnSpc>
              <a:spcBef>
                <a:spcPts val="133"/>
              </a:spcBef>
              <a:spcAft>
                <a:spcPts val="133"/>
              </a:spcAft>
              <a:buClrTx/>
              <a:buSzTx/>
              <a:buFontTx/>
              <a:buNone/>
              <a:tabLst/>
              <a:defRPr/>
            </a:pPr>
            <a:r>
              <a:rPr lang="en-US" sz="667" b="0" i="0" u="none" baseline="0" dirty="0">
                <a:solidFill>
                  <a:srgbClr val="808080"/>
                </a:solidFill>
                <a:latin typeface="Arial" panose="020B0604020202020204" pitchFamily="34" charset="0"/>
              </a:rPr>
              <a:t>© Copyright 2021 Dell Inc.</a:t>
            </a:r>
          </a:p>
        </p:txBody>
      </p:sp>
      <p:sp>
        <p:nvSpPr>
          <p:cNvPr id="6" name="TextBox 19"/>
          <p:cNvSpPr txBox="1"/>
          <p:nvPr userDrawn="1"/>
        </p:nvSpPr>
        <p:spPr>
          <a:xfrm>
            <a:off x="5140350" y="6697379"/>
            <a:ext cx="105798" cy="92398"/>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r" rtl="0" fontAlgn="base">
              <a:lnSpc>
                <a:spcPct val="90000"/>
              </a:lnSpc>
              <a:spcBef>
                <a:spcPct val="0"/>
              </a:spcBef>
              <a:spcAft>
                <a:spcPct val="0"/>
              </a:spcAft>
              <a:buClr>
                <a:schemeClr val="bg1"/>
              </a:buClr>
            </a:pPr>
            <a:fld id="{58EC7406-F4CC-4ABF-902E-2AF4E70E5C0F}" type="slidenum">
              <a:rPr lang="en-US" sz="667" b="0" kern="1200" smtClean="0">
                <a:solidFill>
                  <a:srgbClr val="808080"/>
                </a:solidFill>
                <a:latin typeface="Arial" panose="020B0604020202020204" pitchFamily="34" charset="0"/>
                <a:ea typeface="+mn-ea"/>
                <a:cs typeface="+mn-cs"/>
              </a:rPr>
              <a:pPr algn="r" rtl="0" fontAlgn="base">
                <a:lnSpc>
                  <a:spcPct val="90000"/>
                </a:lnSpc>
                <a:spcBef>
                  <a:spcPct val="0"/>
                </a:spcBef>
                <a:spcAft>
                  <a:spcPct val="0"/>
                </a:spcAft>
                <a:buClr>
                  <a:schemeClr val="bg1"/>
                </a:buClr>
              </a:pPr>
              <a:t>‹#›</a:t>
            </a:fld>
            <a:endParaRPr lang="en-US" sz="667" b="0" kern="1200" dirty="0" err="1">
              <a:solidFill>
                <a:srgbClr val="808080"/>
              </a:solidFill>
              <a:latin typeface="Arial" panose="020B0604020202020204" pitchFamily="34" charset="0"/>
              <a:ea typeface="+mn-ea"/>
              <a:cs typeface="+mn-cs"/>
            </a:endParaRPr>
          </a:p>
        </p:txBody>
      </p:sp>
      <p:sp>
        <p:nvSpPr>
          <p:cNvPr id="9" name="TextBox 16"/>
          <p:cNvSpPr txBox="1"/>
          <p:nvPr userDrawn="1"/>
        </p:nvSpPr>
        <p:spPr>
          <a:xfrm>
            <a:off x="5276065" y="6697379"/>
            <a:ext cx="192360" cy="92398"/>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l" rtl="0" fontAlgn="base">
              <a:lnSpc>
                <a:spcPct val="90000"/>
              </a:lnSpc>
              <a:spcBef>
                <a:spcPct val="0"/>
              </a:spcBef>
              <a:spcAft>
                <a:spcPct val="0"/>
              </a:spcAft>
              <a:buClr>
                <a:schemeClr val="bg1"/>
              </a:buClr>
            </a:pPr>
            <a:r>
              <a:rPr lang="en-US" sz="667" kern="1200" dirty="0">
                <a:solidFill>
                  <a:srgbClr val="808080"/>
                </a:solidFill>
                <a:latin typeface="Arial" panose="020B0604020202020204" pitchFamily="34" charset="0"/>
                <a:ea typeface="+mn-ea"/>
                <a:cs typeface="+mn-cs"/>
              </a:rPr>
              <a:t>of 97</a:t>
            </a:r>
          </a:p>
        </p:txBody>
      </p:sp>
    </p:spTree>
    <p:extLst>
      <p:ext uri="{BB962C8B-B14F-4D97-AF65-F5344CB8AC3E}">
        <p14:creationId xmlns:p14="http://schemas.microsoft.com/office/powerpoint/2010/main" val="1705727423"/>
      </p:ext>
    </p:extLst>
  </p:cSld>
  <p:clrMap bg1="lt1" tx1="dk1" bg2="lt2" tx2="dk2" accent1="accent1" accent2="accent2" accent3="accent3" accent4="accent4" accent5="accent5" accent6="accent6" hlink="hlink" folHlink="folHlink"/>
  <p:sldLayoutIdLst>
    <p:sldLayoutId id="2147483675" r:id="rId1"/>
    <p:sldLayoutId id="2147483683" r:id="rId2"/>
    <p:sldLayoutId id="2147483679" r:id="rId3"/>
    <p:sldLayoutId id="2147483677" r:id="rId4"/>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0">
          <p15:clr>
            <a:srgbClr val="F26B43"/>
          </p15:clr>
        </p15:guide>
        <p15:guide id="3" pos="180">
          <p15:clr>
            <a:srgbClr val="F26B43"/>
          </p15:clr>
        </p15:guide>
        <p15:guide id="4" pos="55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4D93B9-CF08-4B60-B99B-1A30FB175F2C}"/>
              </a:ext>
            </a:extLst>
          </p:cNvPr>
          <p:cNvSpPr>
            <a:spLocks noGrp="1"/>
          </p:cNvSpPr>
          <p:nvPr>
            <p:ph type="title"/>
          </p:nvPr>
        </p:nvSpPr>
        <p:spPr>
          <a:xfrm>
            <a:off x="357120" y="2930402"/>
            <a:ext cx="11477759" cy="997196"/>
          </a:xfrm>
        </p:spPr>
        <p:txBody>
          <a:bodyPr/>
          <a:lstStyle/>
          <a:p>
            <a:pPr algn="ctr"/>
            <a:r>
              <a:rPr lang="en" altLang="zh-CN" b="1" dirty="0">
                <a:latin typeface="Times New Roman" panose="02020603050405020304" pitchFamily="18" charset="0"/>
                <a:cs typeface="Times New Roman" panose="02020603050405020304" pitchFamily="18" charset="0"/>
              </a:rPr>
              <a:t>Pravega</a:t>
            </a:r>
            <a:r>
              <a:rPr lang="zh-CN" altLang="en-US" b="1" dirty="0">
                <a:latin typeface="Times New Roman" panose="02020603050405020304" pitchFamily="18" charset="0"/>
                <a:cs typeface="Times New Roman" panose="02020603050405020304" pitchFamily="18" charset="0"/>
              </a:rPr>
              <a:t> </a:t>
            </a:r>
            <a:r>
              <a:rPr lang="en" altLang="zh-CN" b="1" dirty="0">
                <a:latin typeface="Times New Roman" panose="02020603050405020304" pitchFamily="18" charset="0"/>
                <a:cs typeface="Times New Roman" panose="02020603050405020304" pitchFamily="18" charset="0"/>
              </a:rPr>
              <a:t>+ </a:t>
            </a:r>
            <a:r>
              <a:rPr lang="en" altLang="zh-CN" b="1" dirty="0" err="1">
                <a:latin typeface="Times New Roman" panose="02020603050405020304" pitchFamily="18" charset="0"/>
                <a:cs typeface="Times New Roman" panose="02020603050405020304" pitchFamily="18" charset="0"/>
              </a:rPr>
              <a:t>Hudi</a:t>
            </a:r>
            <a:r>
              <a:rPr lang="en" altLang="zh-CN"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 altLang="zh-CN" b="1" dirty="0">
                <a:latin typeface="Times New Roman" panose="02020603050405020304" pitchFamily="18" charset="0"/>
                <a:cs typeface="Times New Roman" panose="02020603050405020304" pitchFamily="18" charset="0"/>
              </a:rPr>
              <a:t>Lakehouse</a:t>
            </a:r>
          </a:p>
        </p:txBody>
      </p:sp>
    </p:spTree>
    <p:extLst>
      <p:ext uri="{BB962C8B-B14F-4D97-AF65-F5344CB8AC3E}">
        <p14:creationId xmlns:p14="http://schemas.microsoft.com/office/powerpoint/2010/main" val="3868109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title"/>
          </p:nvPr>
        </p:nvSpPr>
        <p:spPr/>
        <p:txBody>
          <a:bodyPr/>
          <a:lstStyle/>
          <a:p>
            <a:r>
              <a:rPr lang="en-US" altLang="zh-CN" dirty="0"/>
              <a:t>Agenda</a:t>
            </a:r>
            <a:endParaRPr lang="en-US" dirty="0"/>
          </a:p>
        </p:txBody>
      </p:sp>
      <p:sp>
        <p:nvSpPr>
          <p:cNvPr id="165" name="Subtitle 164"/>
          <p:cNvSpPr>
            <a:spLocks noGrp="1"/>
          </p:cNvSpPr>
          <p:nvPr>
            <p:ph type="subTitle" idx="17"/>
          </p:nvPr>
        </p:nvSpPr>
        <p:spPr/>
        <p:txBody>
          <a:bodyPr/>
          <a:lstStyle/>
          <a:p>
            <a:r>
              <a:rPr lang="zh-CN" altLang="en-US" dirty="0"/>
              <a:t>团队介绍</a:t>
            </a:r>
            <a:endParaRPr lang="en-US" dirty="0"/>
          </a:p>
        </p:txBody>
      </p:sp>
      <p:sp>
        <p:nvSpPr>
          <p:cNvPr id="11" name="Content Placeholder 10">
            <a:extLst>
              <a:ext uri="{FF2B5EF4-FFF2-40B4-BE49-F238E27FC236}">
                <a16:creationId xmlns:a16="http://schemas.microsoft.com/office/drawing/2014/main" id="{16F59CC9-0345-4876-98AE-25173E8126FE}"/>
              </a:ext>
            </a:extLst>
          </p:cNvPr>
          <p:cNvSpPr>
            <a:spLocks noGrp="1"/>
          </p:cNvSpPr>
          <p:nvPr>
            <p:ph sz="quarter" idx="18"/>
          </p:nvPr>
        </p:nvSpPr>
        <p:spPr/>
        <p:txBody>
          <a:bodyPr/>
          <a:lstStyle/>
          <a:p>
            <a:r>
              <a:rPr lang="zh-CN" altLang="en-US" dirty="0"/>
              <a:t>创新方案概述</a:t>
            </a:r>
            <a:endParaRPr lang="en-US" dirty="0"/>
          </a:p>
        </p:txBody>
      </p:sp>
      <p:sp>
        <p:nvSpPr>
          <p:cNvPr id="12" name="Content Placeholder 11">
            <a:extLst>
              <a:ext uri="{FF2B5EF4-FFF2-40B4-BE49-F238E27FC236}">
                <a16:creationId xmlns:a16="http://schemas.microsoft.com/office/drawing/2014/main" id="{284AF943-0D33-402B-8FDB-FE39DEAAB434}"/>
              </a:ext>
            </a:extLst>
          </p:cNvPr>
          <p:cNvSpPr>
            <a:spLocks noGrp="1"/>
          </p:cNvSpPr>
          <p:nvPr>
            <p:ph sz="quarter" idx="19"/>
          </p:nvPr>
        </p:nvSpPr>
        <p:spPr/>
        <p:txBody>
          <a:bodyPr/>
          <a:lstStyle/>
          <a:p>
            <a:r>
              <a:rPr lang="zh-CN" altLang="en-US" dirty="0"/>
              <a:t>创新的价值</a:t>
            </a:r>
            <a:endParaRPr lang="en-US" dirty="0"/>
          </a:p>
        </p:txBody>
      </p:sp>
    </p:spTree>
    <p:extLst>
      <p:ext uri="{BB962C8B-B14F-4D97-AF65-F5344CB8AC3E}">
        <p14:creationId xmlns:p14="http://schemas.microsoft.com/office/powerpoint/2010/main" val="391946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F87E-9C8D-4970-9927-239E13C53DB6}"/>
              </a:ext>
            </a:extLst>
          </p:cNvPr>
          <p:cNvSpPr>
            <a:spLocks noGrp="1"/>
          </p:cNvSpPr>
          <p:nvPr>
            <p:ph type="title"/>
          </p:nvPr>
        </p:nvSpPr>
        <p:spPr>
          <a:xfrm>
            <a:off x="381000" y="577286"/>
            <a:ext cx="11430000" cy="517001"/>
          </a:xfrm>
        </p:spPr>
        <p:txBody>
          <a:bodyPr/>
          <a:lstStyle/>
          <a:p>
            <a:r>
              <a:rPr lang="zh-CN" altLang="en-US" dirty="0"/>
              <a:t>团队介绍</a:t>
            </a:r>
            <a:endParaRPr lang="en-US" dirty="0"/>
          </a:p>
        </p:txBody>
      </p:sp>
      <p:sp>
        <p:nvSpPr>
          <p:cNvPr id="4" name="TextBox 3">
            <a:extLst>
              <a:ext uri="{FF2B5EF4-FFF2-40B4-BE49-F238E27FC236}">
                <a16:creationId xmlns:a16="http://schemas.microsoft.com/office/drawing/2014/main" id="{4F5CF7F5-6E43-4956-AEA1-1361B7953887}"/>
              </a:ext>
            </a:extLst>
          </p:cNvPr>
          <p:cNvSpPr txBox="1"/>
          <p:nvPr/>
        </p:nvSpPr>
        <p:spPr>
          <a:xfrm>
            <a:off x="380999" y="1982450"/>
            <a:ext cx="11429999" cy="2646878"/>
          </a:xfrm>
          <a:prstGeom prst="rect">
            <a:avLst/>
          </a:prstGeom>
          <a:noFill/>
        </p:spPr>
        <p:txBody>
          <a:bodyPr wrap="square" lIns="0" tIns="0" rIns="0" bIns="0" rtlCol="0">
            <a:spAutoFit/>
          </a:bodyPr>
          <a:lstStyle/>
          <a:p>
            <a:pPr marL="457200" indent="-457200">
              <a:buFont typeface="Arial" panose="020B0604020202020204" pitchFamily="34" charset="0"/>
              <a:buChar char="•"/>
            </a:pPr>
            <a:r>
              <a:rPr lang="zh-CN" altLang="en-US" sz="3600" b="1" dirty="0">
                <a:solidFill>
                  <a:schemeClr val="bg2"/>
                </a:solidFill>
                <a:latin typeface="Times New Roman" panose="02020603050405020304" pitchFamily="18" charset="0"/>
                <a:cs typeface="Times New Roman" panose="02020603050405020304" pitchFamily="18" charset="0"/>
              </a:rPr>
              <a:t>团队成员</a:t>
            </a:r>
            <a:endParaRPr lang="en-US" altLang="zh-CN" sz="3600" b="1" dirty="0">
              <a:solidFill>
                <a:schemeClr val="bg2"/>
              </a:solidFill>
              <a:latin typeface="Times New Roman" panose="02020603050405020304" pitchFamily="18" charset="0"/>
              <a:cs typeface="Times New Roman" panose="02020603050405020304" pitchFamily="18" charset="0"/>
            </a:endParaRPr>
          </a:p>
          <a:p>
            <a:r>
              <a:rPr lang="zh-CN" altLang="en-US" sz="3200" dirty="0">
                <a:solidFill>
                  <a:schemeClr val="bg2"/>
                </a:solidFill>
                <a:latin typeface="Times New Roman" panose="02020603050405020304" pitchFamily="18" charset="0"/>
                <a:cs typeface="Times New Roman" panose="02020603050405020304" pitchFamily="18" charset="0"/>
              </a:rPr>
              <a:t>     蒋晓峰，苏轩楠，任庆盛</a:t>
            </a:r>
            <a:endParaRPr lang="en-US" altLang="zh-CN" sz="3200" dirty="0">
              <a:solidFill>
                <a:schemeClr val="bg2"/>
              </a:solidFill>
              <a:latin typeface="Times New Roman" panose="02020603050405020304" pitchFamily="18" charset="0"/>
              <a:cs typeface="Times New Roman" panose="02020603050405020304" pitchFamily="18" charset="0"/>
            </a:endParaRPr>
          </a:p>
          <a:p>
            <a:endParaRPr lang="en-US" altLang="zh-CN" sz="3600" dirty="0">
              <a:solidFill>
                <a:schemeClr val="bg2"/>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zh-CN" altLang="en-US" sz="3600" b="1" dirty="0">
                <a:solidFill>
                  <a:schemeClr val="bg2"/>
                </a:solidFill>
                <a:latin typeface="Times New Roman" panose="02020603050405020304" pitchFamily="18" charset="0"/>
                <a:cs typeface="Times New Roman" panose="02020603050405020304" pitchFamily="18" charset="0"/>
              </a:rPr>
              <a:t>团队描述</a:t>
            </a:r>
            <a:endParaRPr lang="en-US" altLang="zh-CN" sz="3600" b="1" dirty="0">
              <a:solidFill>
                <a:schemeClr val="bg2"/>
              </a:solidFill>
              <a:latin typeface="Times New Roman" panose="02020603050405020304" pitchFamily="18" charset="0"/>
              <a:cs typeface="Times New Roman" panose="02020603050405020304" pitchFamily="18" charset="0"/>
            </a:endParaRPr>
          </a:p>
          <a:p>
            <a:r>
              <a:rPr lang="zh-CN" altLang="en-US" sz="3200" dirty="0">
                <a:solidFill>
                  <a:schemeClr val="bg2"/>
                </a:solidFill>
                <a:latin typeface="Times New Roman" panose="02020603050405020304" pitchFamily="18" charset="0"/>
                <a:cs typeface="Times New Roman" panose="02020603050405020304" pitchFamily="18" charset="0"/>
              </a:rPr>
              <a:t>     </a:t>
            </a:r>
            <a:r>
              <a:rPr lang="en-US" altLang="zh-CN" sz="3200" dirty="0">
                <a:solidFill>
                  <a:schemeClr val="bg2"/>
                </a:solidFill>
                <a:latin typeface="Times New Roman" panose="02020603050405020304" pitchFamily="18" charset="0"/>
                <a:cs typeface="Times New Roman" panose="02020603050405020304" pitchFamily="18" charset="0"/>
              </a:rPr>
              <a:t>Hackathon</a:t>
            </a:r>
            <a:r>
              <a:rPr lang="zh-CN" altLang="en-US" sz="3200" dirty="0">
                <a:solidFill>
                  <a:schemeClr val="bg2"/>
                </a:solidFill>
                <a:latin typeface="Times New Roman" panose="02020603050405020304" pitchFamily="18" charset="0"/>
                <a:cs typeface="Times New Roman" panose="02020603050405020304" pitchFamily="18" charset="0"/>
              </a:rPr>
              <a:t> 头号玩家</a:t>
            </a:r>
            <a:endParaRPr lang="en-US" altLang="zh-CN" sz="32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876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F87E-9C8D-4970-9927-239E13C53DB6}"/>
              </a:ext>
            </a:extLst>
          </p:cNvPr>
          <p:cNvSpPr>
            <a:spLocks noGrp="1"/>
          </p:cNvSpPr>
          <p:nvPr>
            <p:ph type="title"/>
          </p:nvPr>
        </p:nvSpPr>
        <p:spPr>
          <a:xfrm>
            <a:off x="381000" y="536956"/>
            <a:ext cx="11430000" cy="517001"/>
          </a:xfrm>
        </p:spPr>
        <p:txBody>
          <a:bodyPr/>
          <a:lstStyle/>
          <a:p>
            <a:r>
              <a:rPr lang="zh-CN" altLang="en-US" dirty="0"/>
              <a:t>创新项目概述</a:t>
            </a:r>
            <a:endParaRPr lang="en-US" dirty="0"/>
          </a:p>
        </p:txBody>
      </p:sp>
      <p:sp>
        <p:nvSpPr>
          <p:cNvPr id="4" name="TextBox 3">
            <a:extLst>
              <a:ext uri="{FF2B5EF4-FFF2-40B4-BE49-F238E27FC236}">
                <a16:creationId xmlns:a16="http://schemas.microsoft.com/office/drawing/2014/main" id="{FEA60719-17CA-4A11-9312-4E8F6C639DD3}"/>
              </a:ext>
            </a:extLst>
          </p:cNvPr>
          <p:cNvSpPr txBox="1"/>
          <p:nvPr/>
        </p:nvSpPr>
        <p:spPr>
          <a:xfrm>
            <a:off x="381000" y="1765951"/>
            <a:ext cx="10604500" cy="4555093"/>
          </a:xfrm>
          <a:prstGeom prst="rect">
            <a:avLst/>
          </a:prstGeom>
          <a:noFill/>
        </p:spPr>
        <p:txBody>
          <a:bodyPr wrap="square" lIns="0" tIns="0" rIns="0" bIns="0" rtlCol="0">
            <a:spAutoFit/>
          </a:bodyPr>
          <a:lstStyle/>
          <a:p>
            <a:pPr marL="571500" indent="-571500">
              <a:buFont typeface="Arial" panose="020B0604020202020204" pitchFamily="34" charset="0"/>
              <a:buChar char="•"/>
            </a:pPr>
            <a:r>
              <a:rPr lang="zh-CN" altLang="en-US" sz="3200" b="1" dirty="0">
                <a:solidFill>
                  <a:schemeClr val="bg2"/>
                </a:solidFill>
                <a:latin typeface="Times New Roman" panose="02020603050405020304" pitchFamily="18" charset="0"/>
                <a:cs typeface="Times New Roman" panose="02020603050405020304" pitchFamily="18" charset="0"/>
              </a:rPr>
              <a:t>项目背景</a:t>
            </a:r>
            <a:endParaRPr lang="en" altLang="zh-CN" sz="3200" dirty="0">
              <a:solidFill>
                <a:schemeClr val="bg2"/>
              </a:solidFill>
              <a:latin typeface="Times New Roman" panose="02020603050405020304" pitchFamily="18" charset="0"/>
              <a:cs typeface="Times New Roman" panose="02020603050405020304" pitchFamily="18" charset="0"/>
            </a:endParaRPr>
          </a:p>
          <a:p>
            <a:r>
              <a:rPr lang="en" altLang="zh-CN" sz="2600" dirty="0">
                <a:solidFill>
                  <a:schemeClr val="bg2"/>
                </a:solidFill>
                <a:latin typeface="Times New Roman" panose="02020603050405020304" pitchFamily="18" charset="0"/>
                <a:cs typeface="Times New Roman" panose="02020603050405020304" pitchFamily="18" charset="0"/>
              </a:rPr>
              <a:t>Pravega </a:t>
            </a:r>
            <a:r>
              <a:rPr lang="zh-CN" altLang="en-US" sz="2600" dirty="0">
                <a:solidFill>
                  <a:schemeClr val="bg2"/>
                </a:solidFill>
                <a:latin typeface="Times New Roman" panose="02020603050405020304" pitchFamily="18" charset="0"/>
                <a:cs typeface="Times New Roman" panose="02020603050405020304" pitchFamily="18" charset="0"/>
              </a:rPr>
              <a:t>设计宗旨是成为流的实时存储解决方案。应用程序将数据持久化存储到 </a:t>
            </a:r>
            <a:r>
              <a:rPr lang="en" altLang="zh-CN" sz="2600" dirty="0">
                <a:solidFill>
                  <a:schemeClr val="bg2"/>
                </a:solidFill>
                <a:latin typeface="Times New Roman" panose="02020603050405020304" pitchFamily="18" charset="0"/>
                <a:cs typeface="Times New Roman" panose="02020603050405020304" pitchFamily="18" charset="0"/>
              </a:rPr>
              <a:t>Pravega </a:t>
            </a:r>
            <a:r>
              <a:rPr lang="zh-CN" altLang="en-US" sz="2600" dirty="0">
                <a:solidFill>
                  <a:schemeClr val="bg2"/>
                </a:solidFill>
                <a:latin typeface="Times New Roman" panose="02020603050405020304" pitchFamily="18" charset="0"/>
                <a:cs typeface="Times New Roman" panose="02020603050405020304" pitchFamily="18" charset="0"/>
              </a:rPr>
              <a:t>中，</a:t>
            </a:r>
            <a:r>
              <a:rPr lang="en" altLang="zh-CN" sz="2600" dirty="0">
                <a:solidFill>
                  <a:schemeClr val="bg2"/>
                </a:solidFill>
                <a:latin typeface="Times New Roman" panose="02020603050405020304" pitchFamily="18" charset="0"/>
                <a:cs typeface="Times New Roman" panose="02020603050405020304" pitchFamily="18" charset="0"/>
              </a:rPr>
              <a:t>Pravega </a:t>
            </a:r>
            <a:r>
              <a:rPr lang="zh-CN" altLang="en-US" sz="2600" dirty="0">
                <a:solidFill>
                  <a:schemeClr val="bg2"/>
                </a:solidFill>
                <a:latin typeface="Times New Roman" panose="02020603050405020304" pitchFamily="18" charset="0"/>
                <a:cs typeface="Times New Roman" panose="02020603050405020304" pitchFamily="18" charset="0"/>
              </a:rPr>
              <a:t>的 </a:t>
            </a:r>
            <a:r>
              <a:rPr lang="en" altLang="zh-CN" sz="2600" dirty="0">
                <a:solidFill>
                  <a:schemeClr val="bg2"/>
                </a:solidFill>
                <a:latin typeface="Times New Roman" panose="02020603050405020304" pitchFamily="18" charset="0"/>
                <a:cs typeface="Times New Roman" panose="02020603050405020304" pitchFamily="18" charset="0"/>
              </a:rPr>
              <a:t>Stream </a:t>
            </a:r>
            <a:r>
              <a:rPr lang="zh-CN" altLang="en-US" sz="2600" dirty="0">
                <a:solidFill>
                  <a:schemeClr val="bg2"/>
                </a:solidFill>
                <a:latin typeface="Times New Roman" panose="02020603050405020304" pitchFamily="18" charset="0"/>
                <a:cs typeface="Times New Roman" panose="02020603050405020304" pitchFamily="18" charset="0"/>
              </a:rPr>
              <a:t>可以有无限制的数量并且持久化存储任意长时间，使用同样的 </a:t>
            </a:r>
            <a:r>
              <a:rPr lang="en" altLang="zh-CN" sz="2600" dirty="0">
                <a:solidFill>
                  <a:schemeClr val="bg2"/>
                </a:solidFill>
                <a:latin typeface="Times New Roman" panose="02020603050405020304" pitchFamily="18" charset="0"/>
                <a:cs typeface="Times New Roman" panose="02020603050405020304" pitchFamily="18" charset="0"/>
              </a:rPr>
              <a:t>Reader API </a:t>
            </a:r>
            <a:r>
              <a:rPr lang="zh-CN" altLang="en-US" sz="2600" dirty="0">
                <a:solidFill>
                  <a:schemeClr val="bg2"/>
                </a:solidFill>
                <a:latin typeface="Times New Roman" panose="02020603050405020304" pitchFamily="18" charset="0"/>
                <a:cs typeface="Times New Roman" panose="02020603050405020304" pitchFamily="18" charset="0"/>
              </a:rPr>
              <a:t>提供尾读 </a:t>
            </a:r>
            <a:r>
              <a:rPr lang="en-US" altLang="zh-CN" sz="2600" dirty="0">
                <a:solidFill>
                  <a:schemeClr val="bg2"/>
                </a:solidFill>
                <a:latin typeface="Times New Roman" panose="02020603050405020304" pitchFamily="18" charset="0"/>
                <a:cs typeface="Times New Roman" panose="02020603050405020304" pitchFamily="18" charset="0"/>
              </a:rPr>
              <a:t>(</a:t>
            </a:r>
            <a:r>
              <a:rPr lang="en" altLang="zh-CN" sz="2600" dirty="0">
                <a:solidFill>
                  <a:schemeClr val="bg2"/>
                </a:solidFill>
                <a:latin typeface="Times New Roman" panose="02020603050405020304" pitchFamily="18" charset="0"/>
                <a:cs typeface="Times New Roman" panose="02020603050405020304" pitchFamily="18" charset="0"/>
              </a:rPr>
              <a:t>tail read) </a:t>
            </a:r>
            <a:r>
              <a:rPr lang="zh-CN" altLang="en-US" sz="2600" dirty="0">
                <a:solidFill>
                  <a:schemeClr val="bg2"/>
                </a:solidFill>
                <a:latin typeface="Times New Roman" panose="02020603050405020304" pitchFamily="18" charset="0"/>
                <a:cs typeface="Times New Roman" panose="02020603050405020304" pitchFamily="18" charset="0"/>
              </a:rPr>
              <a:t>和追赶读 </a:t>
            </a:r>
            <a:r>
              <a:rPr lang="en-US" altLang="zh-CN" sz="2600" dirty="0">
                <a:solidFill>
                  <a:schemeClr val="bg2"/>
                </a:solidFill>
                <a:latin typeface="Times New Roman" panose="02020603050405020304" pitchFamily="18" charset="0"/>
                <a:cs typeface="Times New Roman" panose="02020603050405020304" pitchFamily="18" charset="0"/>
              </a:rPr>
              <a:t>(</a:t>
            </a:r>
            <a:r>
              <a:rPr lang="en" altLang="zh-CN" sz="2600" dirty="0">
                <a:solidFill>
                  <a:schemeClr val="bg2"/>
                </a:solidFill>
                <a:latin typeface="Times New Roman" panose="02020603050405020304" pitchFamily="18" charset="0"/>
                <a:cs typeface="Times New Roman" panose="02020603050405020304" pitchFamily="18" charset="0"/>
              </a:rPr>
              <a:t>catch-up read) </a:t>
            </a:r>
            <a:r>
              <a:rPr lang="zh-CN" altLang="en-US" sz="2600" dirty="0">
                <a:solidFill>
                  <a:schemeClr val="bg2"/>
                </a:solidFill>
                <a:latin typeface="Times New Roman" panose="02020603050405020304" pitchFamily="18" charset="0"/>
                <a:cs typeface="Times New Roman" panose="02020603050405020304" pitchFamily="18" charset="0"/>
              </a:rPr>
              <a:t>功能，能够有效满足两种处理方式的统一。</a:t>
            </a:r>
            <a:r>
              <a:rPr lang="en" altLang="zh-CN" sz="2600" dirty="0">
                <a:solidFill>
                  <a:schemeClr val="bg2"/>
                </a:solidFill>
                <a:latin typeface="Times New Roman" panose="02020603050405020304" pitchFamily="18" charset="0"/>
                <a:cs typeface="Times New Roman" panose="02020603050405020304" pitchFamily="18" charset="0"/>
              </a:rPr>
              <a:t> Lakehouse</a:t>
            </a:r>
            <a:r>
              <a:rPr lang="zh-CN" altLang="en-US" sz="2600" dirty="0">
                <a:solidFill>
                  <a:schemeClr val="bg2"/>
                </a:solidFill>
                <a:latin typeface="Times New Roman" panose="02020603050405020304" pitchFamily="18" charset="0"/>
                <a:cs typeface="Times New Roman" panose="02020603050405020304" pitchFamily="18" charset="0"/>
              </a:rPr>
              <a:t> 最早由 </a:t>
            </a:r>
            <a:r>
              <a:rPr lang="en" altLang="zh-CN" sz="2600" dirty="0">
                <a:solidFill>
                  <a:schemeClr val="bg2"/>
                </a:solidFill>
                <a:latin typeface="Times New Roman" panose="02020603050405020304" pitchFamily="18" charset="0"/>
                <a:cs typeface="Times New Roman" panose="02020603050405020304" pitchFamily="18" charset="0"/>
              </a:rPr>
              <a:t>Databricks</a:t>
            </a:r>
            <a:r>
              <a:rPr lang="zh-CN" altLang="en-US" sz="2600" dirty="0">
                <a:solidFill>
                  <a:schemeClr val="bg2"/>
                </a:solidFill>
                <a:latin typeface="Times New Roman" panose="02020603050405020304" pitchFamily="18" charset="0"/>
                <a:cs typeface="Times New Roman" panose="02020603050405020304" pitchFamily="18" charset="0"/>
              </a:rPr>
              <a:t> 公司提出，其可作为低成本、直接访问云存储并提供传统 </a:t>
            </a:r>
            <a:r>
              <a:rPr lang="en" altLang="zh-CN" sz="2600" dirty="0">
                <a:solidFill>
                  <a:schemeClr val="bg2"/>
                </a:solidFill>
                <a:latin typeface="Times New Roman" panose="02020603050405020304" pitchFamily="18" charset="0"/>
                <a:cs typeface="Times New Roman" panose="02020603050405020304" pitchFamily="18" charset="0"/>
              </a:rPr>
              <a:t>DBMS</a:t>
            </a:r>
            <a:r>
              <a:rPr lang="zh-CN" altLang="en-US" sz="2600" dirty="0">
                <a:solidFill>
                  <a:schemeClr val="bg2"/>
                </a:solidFill>
                <a:latin typeface="Times New Roman" panose="02020603050405020304" pitchFamily="18" charset="0"/>
                <a:cs typeface="Times New Roman" panose="02020603050405020304" pitchFamily="18" charset="0"/>
              </a:rPr>
              <a:t> 管系统性能和 </a:t>
            </a:r>
            <a:r>
              <a:rPr lang="en" altLang="zh-CN" sz="2600" dirty="0">
                <a:solidFill>
                  <a:schemeClr val="bg2"/>
                </a:solidFill>
                <a:latin typeface="Times New Roman" panose="02020603050405020304" pitchFamily="18" charset="0"/>
                <a:cs typeface="Times New Roman" panose="02020603050405020304" pitchFamily="18" charset="0"/>
              </a:rPr>
              <a:t>ACID</a:t>
            </a:r>
            <a:r>
              <a:rPr lang="zh-CN" altLang="en-US" sz="2600" dirty="0">
                <a:solidFill>
                  <a:schemeClr val="bg2"/>
                </a:solidFill>
                <a:latin typeface="Times New Roman" panose="02020603050405020304" pitchFamily="18" charset="0"/>
                <a:cs typeface="Times New Roman" panose="02020603050405020304" pitchFamily="18" charset="0"/>
              </a:rPr>
              <a:t> 事务、版本、审计、索引、缓存、查询优化的数据管理系统，</a:t>
            </a:r>
            <a:r>
              <a:rPr lang="en" altLang="zh-CN" sz="2600" dirty="0">
                <a:solidFill>
                  <a:schemeClr val="bg2"/>
                </a:solidFill>
                <a:latin typeface="Times New Roman" panose="02020603050405020304" pitchFamily="18" charset="0"/>
                <a:cs typeface="Times New Roman" panose="02020603050405020304" pitchFamily="18" charset="0"/>
              </a:rPr>
              <a:t>Lakehouse</a:t>
            </a:r>
            <a:r>
              <a:rPr lang="zh-CN" altLang="en-US" sz="2600" dirty="0">
                <a:solidFill>
                  <a:schemeClr val="bg2"/>
                </a:solidFill>
                <a:latin typeface="Times New Roman" panose="02020603050405020304" pitchFamily="18" charset="0"/>
                <a:cs typeface="Times New Roman" panose="02020603050405020304" pitchFamily="18" charset="0"/>
              </a:rPr>
              <a:t> 结合数据湖和数据仓库的优点：包括数据湖的低成本存储和开放数据格式访问，数据仓库强大的管理和优化能力。</a:t>
            </a:r>
            <a:r>
              <a:rPr lang="en" altLang="zh-CN" sz="2600" dirty="0">
                <a:solidFill>
                  <a:schemeClr val="bg2"/>
                </a:solidFill>
                <a:latin typeface="Times New Roman" panose="02020603050405020304" pitchFamily="18" charset="0"/>
                <a:cs typeface="Times New Roman" panose="02020603050405020304" pitchFamily="18" charset="0"/>
              </a:rPr>
              <a:t>Delta Lake</a:t>
            </a:r>
            <a:r>
              <a:rPr lang="zh-CN" altLang="en" sz="2600" dirty="0">
                <a:solidFill>
                  <a:schemeClr val="bg2"/>
                </a:solidFill>
                <a:latin typeface="Times New Roman" panose="02020603050405020304" pitchFamily="18" charset="0"/>
                <a:cs typeface="Times New Roman" panose="02020603050405020304" pitchFamily="18" charset="0"/>
              </a:rPr>
              <a:t>，</a:t>
            </a:r>
            <a:r>
              <a:rPr lang="en" altLang="zh-CN" sz="2600" dirty="0">
                <a:solidFill>
                  <a:schemeClr val="bg2"/>
                </a:solidFill>
                <a:latin typeface="Times New Roman" panose="02020603050405020304" pitchFamily="18" charset="0"/>
                <a:cs typeface="Times New Roman" panose="02020603050405020304" pitchFamily="18" charset="0"/>
              </a:rPr>
              <a:t>Apache </a:t>
            </a:r>
            <a:r>
              <a:rPr lang="en" altLang="zh-CN" sz="2600" dirty="0" err="1">
                <a:solidFill>
                  <a:schemeClr val="bg2"/>
                </a:solidFill>
                <a:latin typeface="Times New Roman" panose="02020603050405020304" pitchFamily="18" charset="0"/>
                <a:cs typeface="Times New Roman" panose="02020603050405020304" pitchFamily="18" charset="0"/>
              </a:rPr>
              <a:t>Hudi</a:t>
            </a:r>
            <a:r>
              <a:rPr lang="zh-CN" altLang="en-US" sz="2600" dirty="0">
                <a:solidFill>
                  <a:schemeClr val="bg2"/>
                </a:solidFill>
                <a:latin typeface="Times New Roman" panose="02020603050405020304" pitchFamily="18" charset="0"/>
                <a:cs typeface="Times New Roman" panose="02020603050405020304" pitchFamily="18" charset="0"/>
              </a:rPr>
              <a:t> 和 </a:t>
            </a:r>
            <a:r>
              <a:rPr lang="en" altLang="zh-CN" sz="2600" dirty="0">
                <a:solidFill>
                  <a:schemeClr val="bg2"/>
                </a:solidFill>
                <a:latin typeface="Times New Roman" panose="02020603050405020304" pitchFamily="18" charset="0"/>
                <a:cs typeface="Times New Roman" panose="02020603050405020304" pitchFamily="18" charset="0"/>
              </a:rPr>
              <a:t>Apache Iceberg</a:t>
            </a:r>
            <a:r>
              <a:rPr lang="zh-CN" altLang="en-US" sz="2600" dirty="0">
                <a:solidFill>
                  <a:schemeClr val="bg2"/>
                </a:solidFill>
                <a:latin typeface="Times New Roman" panose="02020603050405020304" pitchFamily="18" charset="0"/>
                <a:cs typeface="Times New Roman" panose="02020603050405020304" pitchFamily="18" charset="0"/>
              </a:rPr>
              <a:t> 是三种构建 </a:t>
            </a:r>
            <a:r>
              <a:rPr lang="en" altLang="zh-CN" sz="2600" dirty="0">
                <a:solidFill>
                  <a:schemeClr val="bg2"/>
                </a:solidFill>
                <a:latin typeface="Times New Roman" panose="02020603050405020304" pitchFamily="18" charset="0"/>
                <a:cs typeface="Times New Roman" panose="02020603050405020304" pitchFamily="18" charset="0"/>
              </a:rPr>
              <a:t>Lakehouse</a:t>
            </a:r>
            <a:r>
              <a:rPr lang="zh-CN" altLang="en-US" sz="2600" dirty="0">
                <a:solidFill>
                  <a:schemeClr val="bg2"/>
                </a:solidFill>
                <a:latin typeface="Times New Roman" panose="02020603050405020304" pitchFamily="18" charset="0"/>
                <a:cs typeface="Times New Roman" panose="02020603050405020304" pitchFamily="18" charset="0"/>
              </a:rPr>
              <a:t> 的技术。本提议采用</a:t>
            </a:r>
            <a:r>
              <a:rPr lang="en-US" altLang="zh-CN" sz="2600" dirty="0">
                <a:solidFill>
                  <a:schemeClr val="bg2"/>
                </a:solidFill>
                <a:latin typeface="Times New Roman" panose="02020603050405020304" pitchFamily="18" charset="0"/>
                <a:cs typeface="Times New Roman" panose="02020603050405020304" pitchFamily="18" charset="0"/>
              </a:rPr>
              <a:t> </a:t>
            </a:r>
            <a:r>
              <a:rPr lang="en" altLang="zh-CN" sz="2600" dirty="0">
                <a:solidFill>
                  <a:schemeClr val="bg2"/>
                </a:solidFill>
                <a:latin typeface="Times New Roman" panose="02020603050405020304" pitchFamily="18" charset="0"/>
                <a:cs typeface="Times New Roman" panose="02020603050405020304" pitchFamily="18" charset="0"/>
              </a:rPr>
              <a:t>Pravega + </a:t>
            </a:r>
            <a:r>
              <a:rPr lang="en" altLang="zh-CN" sz="2600" dirty="0" err="1">
                <a:solidFill>
                  <a:schemeClr val="bg2"/>
                </a:solidFill>
                <a:latin typeface="Times New Roman" panose="02020603050405020304" pitchFamily="18" charset="0"/>
                <a:cs typeface="Times New Roman" panose="02020603050405020304" pitchFamily="18" charset="0"/>
              </a:rPr>
              <a:t>Hudi</a:t>
            </a:r>
            <a:r>
              <a:rPr lang="en" altLang="zh-CN" sz="2600" dirty="0">
                <a:solidFill>
                  <a:schemeClr val="bg2"/>
                </a:solidFill>
                <a:latin typeface="Times New Roman" panose="02020603050405020304" pitchFamily="18" charset="0"/>
                <a:cs typeface="Times New Roman" panose="02020603050405020304" pitchFamily="18" charset="0"/>
              </a:rPr>
              <a:t> </a:t>
            </a:r>
            <a:r>
              <a:rPr lang="zh-CN" altLang="en-US" sz="2600" dirty="0">
                <a:solidFill>
                  <a:schemeClr val="bg2"/>
                </a:solidFill>
                <a:latin typeface="Times New Roman" panose="02020603050405020304" pitchFamily="18" charset="0"/>
                <a:cs typeface="Times New Roman" panose="02020603050405020304" pitchFamily="18" charset="0"/>
              </a:rPr>
              <a:t>构建</a:t>
            </a:r>
            <a:r>
              <a:rPr lang="en-US" altLang="zh-CN" sz="2600" dirty="0">
                <a:solidFill>
                  <a:schemeClr val="bg2"/>
                </a:solidFill>
                <a:latin typeface="Times New Roman" panose="02020603050405020304" pitchFamily="18" charset="0"/>
                <a:cs typeface="Times New Roman" panose="02020603050405020304" pitchFamily="18" charset="0"/>
              </a:rPr>
              <a:t> </a:t>
            </a:r>
            <a:r>
              <a:rPr lang="en" altLang="zh-CN" sz="2600" dirty="0">
                <a:solidFill>
                  <a:schemeClr val="bg2"/>
                </a:solidFill>
                <a:latin typeface="Times New Roman" panose="02020603050405020304" pitchFamily="18" charset="0"/>
                <a:cs typeface="Times New Roman" panose="02020603050405020304" pitchFamily="18" charset="0"/>
              </a:rPr>
              <a:t>Lakehouse</a:t>
            </a:r>
            <a:r>
              <a:rPr lang="zh-CN" altLang="en-US" sz="2600" dirty="0">
                <a:solidFill>
                  <a:schemeClr val="bg2"/>
                </a:solidFill>
                <a:latin typeface="Times New Roman" panose="02020603050405020304" pitchFamily="18" charset="0"/>
                <a:cs typeface="Times New Roman" panose="02020603050405020304" pitchFamily="18" charset="0"/>
              </a:rPr>
              <a:t>。</a:t>
            </a:r>
            <a:endParaRPr lang="en" altLang="zh-CN" sz="26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638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F87E-9C8D-4970-9927-239E13C53DB6}"/>
              </a:ext>
            </a:extLst>
          </p:cNvPr>
          <p:cNvSpPr>
            <a:spLocks noGrp="1"/>
          </p:cNvSpPr>
          <p:nvPr>
            <p:ph type="title"/>
          </p:nvPr>
        </p:nvSpPr>
        <p:spPr>
          <a:xfrm>
            <a:off x="381000" y="536956"/>
            <a:ext cx="11430000" cy="517001"/>
          </a:xfrm>
        </p:spPr>
        <p:txBody>
          <a:bodyPr/>
          <a:lstStyle/>
          <a:p>
            <a:r>
              <a:rPr lang="zh-CN" altLang="en-US" dirty="0"/>
              <a:t>创新项目概述</a:t>
            </a:r>
            <a:endParaRPr lang="en-US" dirty="0"/>
          </a:p>
        </p:txBody>
      </p:sp>
      <p:sp>
        <p:nvSpPr>
          <p:cNvPr id="4" name="TextBox 3">
            <a:extLst>
              <a:ext uri="{FF2B5EF4-FFF2-40B4-BE49-F238E27FC236}">
                <a16:creationId xmlns:a16="http://schemas.microsoft.com/office/drawing/2014/main" id="{FEA60719-17CA-4A11-9312-4E8F6C639DD3}"/>
              </a:ext>
            </a:extLst>
          </p:cNvPr>
          <p:cNvSpPr txBox="1"/>
          <p:nvPr/>
        </p:nvSpPr>
        <p:spPr>
          <a:xfrm>
            <a:off x="380999" y="1673747"/>
            <a:ext cx="11430000" cy="5170646"/>
          </a:xfrm>
          <a:prstGeom prst="rect">
            <a:avLst/>
          </a:prstGeom>
          <a:noFill/>
        </p:spPr>
        <p:txBody>
          <a:bodyPr wrap="square" lIns="0" tIns="0" rIns="0" bIns="0" rtlCol="0">
            <a:spAutoFit/>
          </a:bodyPr>
          <a:lstStyle/>
          <a:p>
            <a:pPr marL="571500" indent="-571500">
              <a:buFont typeface="Arial" panose="020B0604020202020204" pitchFamily="34" charset="0"/>
              <a:buChar char="•"/>
            </a:pPr>
            <a:r>
              <a:rPr lang="zh-CN" altLang="en-US" sz="3200" b="1" dirty="0">
                <a:solidFill>
                  <a:schemeClr val="bg2"/>
                </a:solidFill>
                <a:latin typeface="Times New Roman" panose="02020603050405020304" pitchFamily="18" charset="0"/>
                <a:cs typeface="Times New Roman" panose="02020603050405020304" pitchFamily="18" charset="0"/>
              </a:rPr>
              <a:t>项目分析</a:t>
            </a:r>
            <a:endParaRPr lang="en" altLang="zh-CN" sz="3200" dirty="0">
              <a:solidFill>
                <a:schemeClr val="bg2"/>
              </a:solidFill>
              <a:latin typeface="Times New Roman" panose="02020603050405020304" pitchFamily="18" charset="0"/>
              <a:cs typeface="Times New Roman" panose="02020603050405020304" pitchFamily="18" charset="0"/>
            </a:endParaRPr>
          </a:p>
          <a:p>
            <a:r>
              <a:rPr lang="zh-CN" altLang="en-US" sz="1250" dirty="0">
                <a:solidFill>
                  <a:schemeClr val="bg2"/>
                </a:solidFill>
                <a:latin typeface="Times New Roman" panose="02020603050405020304" pitchFamily="18" charset="0"/>
                <a:cs typeface="Times New Roman" panose="02020603050405020304" pitchFamily="18" charset="0"/>
              </a:rPr>
              <a:t>构建 </a:t>
            </a:r>
            <a:r>
              <a:rPr lang="en" altLang="zh-CN" sz="1250" dirty="0">
                <a:solidFill>
                  <a:schemeClr val="bg2"/>
                </a:solidFill>
                <a:latin typeface="Times New Roman" panose="02020603050405020304" pitchFamily="18" charset="0"/>
                <a:cs typeface="Times New Roman" panose="02020603050405020304" pitchFamily="18" charset="0"/>
              </a:rPr>
              <a:t>Lakehouse</a:t>
            </a:r>
            <a:r>
              <a:rPr lang="zh-CN" altLang="en-US" sz="1250" dirty="0">
                <a:solidFill>
                  <a:schemeClr val="bg2"/>
                </a:solidFill>
                <a:latin typeface="Times New Roman" panose="02020603050405020304" pitchFamily="18" charset="0"/>
                <a:cs typeface="Times New Roman" panose="02020603050405020304" pitchFamily="18" charset="0"/>
              </a:rPr>
              <a:t> 需要哪些关键特性</a:t>
            </a:r>
            <a:r>
              <a:rPr lang="en-US" altLang="zh-CN" sz="1250" dirty="0">
                <a:solidFill>
                  <a:schemeClr val="bg2"/>
                </a:solidFill>
                <a:latin typeface="Times New Roman" panose="02020603050405020304" pitchFamily="18" charset="0"/>
                <a:cs typeface="Times New Roman" panose="02020603050405020304" pitchFamily="18" charset="0"/>
              </a:rPr>
              <a:t>? Pravega</a:t>
            </a:r>
            <a:r>
              <a:rPr lang="zh-CN" altLang="en-US" sz="1250" dirty="0">
                <a:solidFill>
                  <a:schemeClr val="bg2"/>
                </a:solidFill>
                <a:latin typeface="Times New Roman" panose="02020603050405020304" pitchFamily="18" charset="0"/>
                <a:cs typeface="Times New Roman" panose="02020603050405020304" pitchFamily="18" charset="0"/>
              </a:rPr>
              <a:t> 是否满足 </a:t>
            </a:r>
            <a:r>
              <a:rPr lang="en-US" altLang="zh-CN" sz="1250" dirty="0">
                <a:solidFill>
                  <a:schemeClr val="bg2"/>
                </a:solidFill>
                <a:latin typeface="Times New Roman" panose="02020603050405020304" pitchFamily="18" charset="0"/>
                <a:cs typeface="Times New Roman" panose="02020603050405020304" pitchFamily="18" charset="0"/>
              </a:rPr>
              <a:t>Lakehouse</a:t>
            </a:r>
            <a:r>
              <a:rPr lang="zh-CN" altLang="en-US" sz="1250" dirty="0">
                <a:solidFill>
                  <a:schemeClr val="bg2"/>
                </a:solidFill>
                <a:latin typeface="Times New Roman" panose="02020603050405020304" pitchFamily="18" charset="0"/>
                <a:cs typeface="Times New Roman" panose="02020603050405020304" pitchFamily="18" charset="0"/>
              </a:rPr>
              <a:t> 构建要求</a:t>
            </a:r>
            <a:r>
              <a:rPr lang="en-US" altLang="zh-CN" sz="1250" dirty="0">
                <a:solidFill>
                  <a:schemeClr val="bg2"/>
                </a:solidFill>
                <a:latin typeface="Times New Roman" panose="02020603050405020304" pitchFamily="18" charset="0"/>
                <a:cs typeface="Times New Roman" panose="02020603050405020304" pitchFamily="18" charset="0"/>
              </a:rPr>
              <a:t>?</a:t>
            </a:r>
            <a:endParaRPr lang="en" altLang="zh-CN" sz="1250" dirty="0">
              <a:solidFill>
                <a:schemeClr val="bg2"/>
              </a:solidFill>
              <a:latin typeface="Times New Roman" panose="02020603050405020304" pitchFamily="18" charset="0"/>
              <a:cs typeface="Times New Roman" panose="02020603050405020304" pitchFamily="18" charset="0"/>
            </a:endParaRPr>
          </a:p>
          <a:p>
            <a:r>
              <a:rPr lang="en" altLang="zh-CN" sz="1250" dirty="0">
                <a:solidFill>
                  <a:schemeClr val="bg2"/>
                </a:solidFill>
                <a:latin typeface="Times New Roman" panose="02020603050405020304" pitchFamily="18" charset="0"/>
                <a:cs typeface="Times New Roman" panose="02020603050405020304" pitchFamily="18" charset="0"/>
              </a:rPr>
              <a:t>Lakehouse </a:t>
            </a:r>
            <a:r>
              <a:rPr lang="zh-CN" altLang="en-US" sz="1250" dirty="0">
                <a:solidFill>
                  <a:schemeClr val="bg2"/>
                </a:solidFill>
                <a:latin typeface="Times New Roman" panose="02020603050405020304" pitchFamily="18" charset="0"/>
                <a:cs typeface="Times New Roman" panose="02020603050405020304" pitchFamily="18" charset="0"/>
              </a:rPr>
              <a:t>有如下关键特性：</a:t>
            </a:r>
            <a:endParaRPr lang="en-US" altLang="zh-CN" sz="125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zh-CN" altLang="en-US" sz="1250" dirty="0">
                <a:solidFill>
                  <a:schemeClr val="bg2"/>
                </a:solidFill>
                <a:latin typeface="Times New Roman" panose="02020603050405020304" pitchFamily="18" charset="0"/>
                <a:cs typeface="Times New Roman" panose="02020603050405020304" pitchFamily="18" charset="0"/>
              </a:rPr>
              <a:t>事务支持：企业级</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a:solidFill>
                  <a:schemeClr val="bg2"/>
                </a:solidFill>
                <a:latin typeface="Times New Roman" panose="02020603050405020304" pitchFamily="18" charset="0"/>
                <a:cs typeface="Times New Roman" panose="02020603050405020304" pitchFamily="18" charset="0"/>
              </a:rPr>
              <a:t>Lakehouse </a:t>
            </a:r>
            <a:r>
              <a:rPr lang="zh-CN" altLang="en-US" sz="1250" dirty="0">
                <a:solidFill>
                  <a:schemeClr val="bg2"/>
                </a:solidFill>
                <a:latin typeface="Times New Roman" panose="02020603050405020304" pitchFamily="18" charset="0"/>
                <a:cs typeface="Times New Roman" panose="02020603050405020304" pitchFamily="18" charset="0"/>
              </a:rPr>
              <a:t>中很多数据</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err="1">
                <a:solidFill>
                  <a:schemeClr val="bg2"/>
                </a:solidFill>
                <a:latin typeface="Times New Roman" panose="02020603050405020304" pitchFamily="18" charset="0"/>
                <a:cs typeface="Times New Roman" panose="02020603050405020304" pitchFamily="18" charset="0"/>
              </a:rPr>
              <a:t>Pipeliine</a:t>
            </a:r>
            <a:r>
              <a:rPr lang="zh-CN" altLang="en-US" sz="1250" dirty="0">
                <a:solidFill>
                  <a:schemeClr val="bg2"/>
                </a:solidFill>
                <a:latin typeface="Times New Roman" panose="02020603050405020304" pitchFamily="18" charset="0"/>
                <a:cs typeface="Times New Roman" panose="02020603050405020304" pitchFamily="18" charset="0"/>
              </a:rPr>
              <a:t>会并发读写数据，支持</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a:solidFill>
                  <a:schemeClr val="bg2"/>
                </a:solidFill>
                <a:latin typeface="Times New Roman" panose="02020603050405020304" pitchFamily="18" charset="0"/>
                <a:cs typeface="Times New Roman" panose="02020603050405020304" pitchFamily="18" charset="0"/>
              </a:rPr>
              <a:t>ACID </a:t>
            </a:r>
            <a:r>
              <a:rPr lang="zh-CN" altLang="en-US" sz="1250" dirty="0">
                <a:solidFill>
                  <a:schemeClr val="bg2"/>
                </a:solidFill>
                <a:latin typeface="Times New Roman" panose="02020603050405020304" pitchFamily="18" charset="0"/>
                <a:cs typeface="Times New Roman" panose="02020603050405020304" pitchFamily="18" charset="0"/>
              </a:rPr>
              <a:t>事务保证并发读写的一致性，特别是使用</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a:solidFill>
                  <a:schemeClr val="bg2"/>
                </a:solidFill>
                <a:latin typeface="Times New Roman" panose="02020603050405020304" pitchFamily="18" charset="0"/>
                <a:cs typeface="Times New Roman" panose="02020603050405020304" pitchFamily="18" charset="0"/>
              </a:rPr>
              <a:t>SQL </a:t>
            </a:r>
            <a:r>
              <a:rPr lang="zh-CN" altLang="en" sz="1250" dirty="0">
                <a:solidFill>
                  <a:schemeClr val="bg2"/>
                </a:solidFill>
                <a:latin typeface="Times New Roman" panose="02020603050405020304" pitchFamily="18" charset="0"/>
                <a:cs typeface="Times New Roman" panose="02020603050405020304" pitchFamily="18" charset="0"/>
              </a:rPr>
              <a:t>；</a:t>
            </a:r>
            <a:r>
              <a:rPr lang="en" altLang="zh-CN" sz="1250" dirty="0">
                <a:solidFill>
                  <a:schemeClr val="bg2"/>
                </a:solidFill>
                <a:latin typeface="Times New Roman" panose="02020603050405020304" pitchFamily="18" charset="0"/>
                <a:cs typeface="Times New Roman" panose="02020603050405020304" pitchFamily="18" charset="0"/>
              </a:rPr>
              <a:t>Delta Lake</a:t>
            </a:r>
            <a:r>
              <a:rPr lang="zh-CN" altLang="en" sz="1250" dirty="0">
                <a:solidFill>
                  <a:schemeClr val="bg2"/>
                </a:solidFill>
                <a:latin typeface="Times New Roman" panose="02020603050405020304" pitchFamily="18" charset="0"/>
                <a:cs typeface="Times New Roman" panose="02020603050405020304" pitchFamily="18" charset="0"/>
              </a:rPr>
              <a:t>，</a:t>
            </a:r>
            <a:r>
              <a:rPr lang="en" altLang="zh-CN" sz="1250" dirty="0">
                <a:solidFill>
                  <a:schemeClr val="bg2"/>
                </a:solidFill>
                <a:latin typeface="Times New Roman" panose="02020603050405020304" pitchFamily="18" charset="0"/>
                <a:cs typeface="Times New Roman" panose="02020603050405020304" pitchFamily="18" charset="0"/>
              </a:rPr>
              <a:t>Iceberg</a:t>
            </a:r>
            <a:r>
              <a:rPr lang="zh-CN" altLang="en" sz="1250" dirty="0">
                <a:solidFill>
                  <a:schemeClr val="bg2"/>
                </a:solidFill>
                <a:latin typeface="Times New Roman" panose="02020603050405020304" pitchFamily="18" charset="0"/>
                <a:cs typeface="Times New Roman" panose="02020603050405020304" pitchFamily="18" charset="0"/>
              </a:rPr>
              <a:t>，</a:t>
            </a:r>
            <a:r>
              <a:rPr lang="en" altLang="zh-CN" sz="1250" dirty="0" err="1">
                <a:solidFill>
                  <a:schemeClr val="bg2"/>
                </a:solidFill>
                <a:latin typeface="Times New Roman" panose="02020603050405020304" pitchFamily="18" charset="0"/>
                <a:cs typeface="Times New Roman" panose="02020603050405020304" pitchFamily="18" charset="0"/>
              </a:rPr>
              <a:t>Hudi</a:t>
            </a:r>
            <a:r>
              <a:rPr lang="en" altLang="zh-CN" sz="1250" dirty="0">
                <a:solidFill>
                  <a:schemeClr val="bg2"/>
                </a:solidFill>
                <a:latin typeface="Times New Roman" panose="02020603050405020304" pitchFamily="18" charset="0"/>
                <a:cs typeface="Times New Roman" panose="02020603050405020304" pitchFamily="18" charset="0"/>
              </a:rPr>
              <a:t> </a:t>
            </a:r>
            <a:r>
              <a:rPr lang="zh-CN" altLang="en-US" sz="1250" dirty="0">
                <a:solidFill>
                  <a:schemeClr val="bg2"/>
                </a:solidFill>
                <a:latin typeface="Times New Roman" panose="02020603050405020304" pitchFamily="18" charset="0"/>
                <a:cs typeface="Times New Roman" panose="02020603050405020304" pitchFamily="18" charset="0"/>
              </a:rPr>
              <a:t>三个数据湖框架基于低成本的对象存储实现事务层，都支持事务。</a:t>
            </a:r>
            <a:r>
              <a:rPr lang="en" altLang="zh-CN" sz="1250" b="1" dirty="0">
                <a:solidFill>
                  <a:srgbClr val="00B0F0"/>
                </a:solidFill>
                <a:latin typeface="Times New Roman" panose="02020603050405020304" pitchFamily="18" charset="0"/>
                <a:cs typeface="Times New Roman" panose="02020603050405020304" pitchFamily="18" charset="0"/>
              </a:rPr>
              <a:t>Pravega </a:t>
            </a:r>
            <a:r>
              <a:rPr lang="zh-CN" altLang="en-US" sz="1250" b="1" dirty="0">
                <a:solidFill>
                  <a:srgbClr val="00B0F0"/>
                </a:solidFill>
                <a:latin typeface="Times New Roman" panose="02020603050405020304" pitchFamily="18" charset="0"/>
                <a:cs typeface="Times New Roman" panose="02020603050405020304" pitchFamily="18" charset="0"/>
              </a:rPr>
              <a:t>提供事务性的写入操作，在提交事务之前，数据根据路由键写入到不同的 </a:t>
            </a:r>
            <a:r>
              <a:rPr lang="en" altLang="zh-CN" sz="1250" b="1" dirty="0">
                <a:solidFill>
                  <a:srgbClr val="00B0F0"/>
                </a:solidFill>
                <a:latin typeface="Times New Roman" panose="02020603050405020304" pitchFamily="18" charset="0"/>
                <a:cs typeface="Times New Roman" panose="02020603050405020304" pitchFamily="18" charset="0"/>
              </a:rPr>
              <a:t>Transaction Segment </a:t>
            </a:r>
            <a:r>
              <a:rPr lang="zh-CN" altLang="en-US" sz="1250" b="1" dirty="0">
                <a:solidFill>
                  <a:srgbClr val="00B0F0"/>
                </a:solidFill>
                <a:latin typeface="Times New Roman" panose="02020603050405020304" pitchFamily="18" charset="0"/>
                <a:cs typeface="Times New Roman" panose="02020603050405020304" pitchFamily="18" charset="0"/>
              </a:rPr>
              <a:t>中，此时 </a:t>
            </a:r>
            <a:r>
              <a:rPr lang="en" altLang="zh-CN" sz="1250" b="1" dirty="0">
                <a:solidFill>
                  <a:srgbClr val="00B0F0"/>
                </a:solidFill>
                <a:latin typeface="Times New Roman" panose="02020603050405020304" pitchFamily="18" charset="0"/>
                <a:cs typeface="Times New Roman" panose="02020603050405020304" pitchFamily="18" charset="0"/>
              </a:rPr>
              <a:t>Segment </a:t>
            </a:r>
            <a:r>
              <a:rPr lang="zh-CN" altLang="en-US" sz="1250" b="1" dirty="0">
                <a:solidFill>
                  <a:srgbClr val="00B0F0"/>
                </a:solidFill>
                <a:latin typeface="Times New Roman" panose="02020603050405020304" pitchFamily="18" charset="0"/>
                <a:cs typeface="Times New Roman" panose="02020603050405020304" pitchFamily="18" charset="0"/>
              </a:rPr>
              <a:t>对于 </a:t>
            </a:r>
            <a:r>
              <a:rPr lang="en" altLang="zh-CN" sz="1250" b="1" dirty="0">
                <a:solidFill>
                  <a:srgbClr val="00B0F0"/>
                </a:solidFill>
                <a:latin typeface="Times New Roman" panose="02020603050405020304" pitchFamily="18" charset="0"/>
                <a:cs typeface="Times New Roman" panose="02020603050405020304" pitchFamily="18" charset="0"/>
              </a:rPr>
              <a:t>Reader </a:t>
            </a:r>
            <a:r>
              <a:rPr lang="zh-CN" altLang="en-US" sz="1250" b="1" dirty="0">
                <a:solidFill>
                  <a:srgbClr val="00B0F0"/>
                </a:solidFill>
                <a:latin typeface="Times New Roman" panose="02020603050405020304" pitchFamily="18" charset="0"/>
                <a:cs typeface="Times New Roman" panose="02020603050405020304" pitchFamily="18" charset="0"/>
              </a:rPr>
              <a:t>来说是不可见的。只有在事务提交之后，</a:t>
            </a:r>
            <a:r>
              <a:rPr lang="en" altLang="zh-CN" sz="1250" b="1" dirty="0">
                <a:solidFill>
                  <a:srgbClr val="00B0F0"/>
                </a:solidFill>
                <a:latin typeface="Times New Roman" panose="02020603050405020304" pitchFamily="18" charset="0"/>
                <a:cs typeface="Times New Roman" panose="02020603050405020304" pitchFamily="18" charset="0"/>
              </a:rPr>
              <a:t>Transaction Segment </a:t>
            </a:r>
            <a:r>
              <a:rPr lang="zh-CN" altLang="en-US" sz="1250" b="1" dirty="0">
                <a:solidFill>
                  <a:srgbClr val="00B0F0"/>
                </a:solidFill>
                <a:latin typeface="Times New Roman" panose="02020603050405020304" pitchFamily="18" charset="0"/>
                <a:cs typeface="Times New Roman" panose="02020603050405020304" pitchFamily="18" charset="0"/>
              </a:rPr>
              <a:t>各自追加到 </a:t>
            </a:r>
            <a:r>
              <a:rPr lang="en" altLang="zh-CN" sz="1250" b="1" dirty="0">
                <a:solidFill>
                  <a:srgbClr val="00B0F0"/>
                </a:solidFill>
                <a:latin typeface="Times New Roman" panose="02020603050405020304" pitchFamily="18" charset="0"/>
                <a:cs typeface="Times New Roman" panose="02020603050405020304" pitchFamily="18" charset="0"/>
              </a:rPr>
              <a:t>Stream Segment </a:t>
            </a:r>
            <a:r>
              <a:rPr lang="zh-CN" altLang="en-US" sz="1250" b="1" dirty="0">
                <a:solidFill>
                  <a:srgbClr val="00B0F0"/>
                </a:solidFill>
                <a:latin typeface="Times New Roman" panose="02020603050405020304" pitchFamily="18" charset="0"/>
                <a:cs typeface="Times New Roman" panose="02020603050405020304" pitchFamily="18" charset="0"/>
              </a:rPr>
              <a:t>的末尾，这时候 </a:t>
            </a:r>
            <a:r>
              <a:rPr lang="en" altLang="zh-CN" sz="1250" b="1" dirty="0">
                <a:solidFill>
                  <a:srgbClr val="00B0F0"/>
                </a:solidFill>
                <a:latin typeface="Times New Roman" panose="02020603050405020304" pitchFamily="18" charset="0"/>
                <a:cs typeface="Times New Roman" panose="02020603050405020304" pitchFamily="18" charset="0"/>
              </a:rPr>
              <a:t>Segment </a:t>
            </a:r>
            <a:r>
              <a:rPr lang="zh-CN" altLang="en-US" sz="1250" b="1" dirty="0">
                <a:solidFill>
                  <a:srgbClr val="00B0F0"/>
                </a:solidFill>
                <a:latin typeface="Times New Roman" panose="02020603050405020304" pitchFamily="18" charset="0"/>
                <a:cs typeface="Times New Roman" panose="02020603050405020304" pitchFamily="18" charset="0"/>
              </a:rPr>
              <a:t>对于 </a:t>
            </a:r>
            <a:r>
              <a:rPr lang="en" altLang="zh-CN" sz="1250" b="1" dirty="0">
                <a:solidFill>
                  <a:srgbClr val="00B0F0"/>
                </a:solidFill>
                <a:latin typeface="Times New Roman" panose="02020603050405020304" pitchFamily="18" charset="0"/>
                <a:cs typeface="Times New Roman" panose="02020603050405020304" pitchFamily="18" charset="0"/>
              </a:rPr>
              <a:t>Reader </a:t>
            </a:r>
            <a:r>
              <a:rPr lang="zh-CN" altLang="en-US" sz="1250" b="1" dirty="0">
                <a:solidFill>
                  <a:srgbClr val="00B0F0"/>
                </a:solidFill>
                <a:latin typeface="Times New Roman" panose="02020603050405020304" pitchFamily="18" charset="0"/>
                <a:cs typeface="Times New Roman" panose="02020603050405020304" pitchFamily="18" charset="0"/>
              </a:rPr>
              <a:t>才是可见的。</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 altLang="zh-CN" sz="1250" dirty="0">
                <a:solidFill>
                  <a:schemeClr val="bg2"/>
                </a:solidFill>
                <a:latin typeface="Times New Roman" panose="02020603050405020304" pitchFamily="18" charset="0"/>
                <a:cs typeface="Times New Roman" panose="02020603050405020304" pitchFamily="18" charset="0"/>
              </a:rPr>
              <a:t>Schema </a:t>
            </a:r>
            <a:r>
              <a:rPr lang="zh-CN" altLang="en-US" sz="1250" dirty="0">
                <a:solidFill>
                  <a:schemeClr val="bg2"/>
                </a:solidFill>
                <a:latin typeface="Times New Roman" panose="02020603050405020304" pitchFamily="18" charset="0"/>
                <a:cs typeface="Times New Roman" panose="02020603050405020304" pitchFamily="18" charset="0"/>
              </a:rPr>
              <a:t>约束和治理：</a:t>
            </a:r>
            <a:r>
              <a:rPr lang="en" altLang="zh-CN" sz="1250" dirty="0">
                <a:solidFill>
                  <a:schemeClr val="bg2"/>
                </a:solidFill>
                <a:latin typeface="Times New Roman" panose="02020603050405020304" pitchFamily="18" charset="0"/>
                <a:cs typeface="Times New Roman" panose="02020603050405020304" pitchFamily="18" charset="0"/>
              </a:rPr>
              <a:t>Lakehouse </a:t>
            </a:r>
            <a:r>
              <a:rPr lang="zh-CN" altLang="en-US" sz="1250" dirty="0">
                <a:solidFill>
                  <a:schemeClr val="bg2"/>
                </a:solidFill>
                <a:latin typeface="Times New Roman" panose="02020603050405020304" pitchFamily="18" charset="0"/>
                <a:cs typeface="Times New Roman" panose="02020603050405020304" pitchFamily="18" charset="0"/>
              </a:rPr>
              <a:t>需要支持</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a:solidFill>
                  <a:schemeClr val="bg2"/>
                </a:solidFill>
                <a:latin typeface="Times New Roman" panose="02020603050405020304" pitchFamily="18" charset="0"/>
                <a:cs typeface="Times New Roman" panose="02020603050405020304" pitchFamily="18" charset="0"/>
              </a:rPr>
              <a:t>Schema </a:t>
            </a:r>
            <a:r>
              <a:rPr lang="zh-CN" altLang="en-US" sz="1250" dirty="0">
                <a:solidFill>
                  <a:schemeClr val="bg2"/>
                </a:solidFill>
                <a:latin typeface="Times New Roman" panose="02020603050405020304" pitchFamily="18" charset="0"/>
                <a:cs typeface="Times New Roman" panose="02020603050405020304" pitchFamily="18" charset="0"/>
              </a:rPr>
              <a:t>的约束和演进，支持数仓型</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a:solidFill>
                  <a:schemeClr val="bg2"/>
                </a:solidFill>
                <a:latin typeface="Times New Roman" panose="02020603050405020304" pitchFamily="18" charset="0"/>
                <a:cs typeface="Times New Roman" panose="02020603050405020304" pitchFamily="18" charset="0"/>
              </a:rPr>
              <a:t>Schema </a:t>
            </a:r>
            <a:r>
              <a:rPr lang="zh-CN" altLang="en-US" sz="1250" dirty="0">
                <a:solidFill>
                  <a:schemeClr val="bg2"/>
                </a:solidFill>
                <a:latin typeface="Times New Roman" panose="02020603050405020304" pitchFamily="18" charset="0"/>
                <a:cs typeface="Times New Roman" panose="02020603050405020304" pitchFamily="18" charset="0"/>
              </a:rPr>
              <a:t>范式，如星型</a:t>
            </a:r>
            <a:r>
              <a:rPr lang="en-US" altLang="zh-CN" sz="1250" dirty="0">
                <a:solidFill>
                  <a:schemeClr val="bg2"/>
                </a:solidFill>
                <a:latin typeface="Times New Roman" panose="02020603050405020304" pitchFamily="18" charset="0"/>
                <a:cs typeface="Times New Roman" panose="02020603050405020304" pitchFamily="18" charset="0"/>
              </a:rPr>
              <a:t>/</a:t>
            </a:r>
            <a:r>
              <a:rPr lang="zh-CN" altLang="en-US" sz="1250" dirty="0">
                <a:solidFill>
                  <a:schemeClr val="bg2"/>
                </a:solidFill>
                <a:latin typeface="Times New Roman" panose="02020603050405020304" pitchFamily="18" charset="0"/>
                <a:cs typeface="Times New Roman" panose="02020603050405020304" pitchFamily="18" charset="0"/>
              </a:rPr>
              <a:t>雪花型</a:t>
            </a:r>
            <a:r>
              <a:rPr lang="en-US" altLang="zh-CN" sz="1250" dirty="0">
                <a:solidFill>
                  <a:schemeClr val="bg2"/>
                </a:solidFill>
                <a:latin typeface="Times New Roman" panose="02020603050405020304" pitchFamily="18" charset="0"/>
                <a:cs typeface="Times New Roman" panose="02020603050405020304" pitchFamily="18" charset="0"/>
              </a:rPr>
              <a:t> </a:t>
            </a:r>
            <a:r>
              <a:rPr lang="en" altLang="zh-CN" sz="1250" dirty="0">
                <a:solidFill>
                  <a:schemeClr val="bg2"/>
                </a:solidFill>
                <a:latin typeface="Times New Roman" panose="02020603050405020304" pitchFamily="18" charset="0"/>
                <a:cs typeface="Times New Roman" panose="02020603050405020304" pitchFamily="18" charset="0"/>
              </a:rPr>
              <a:t>Schema</a:t>
            </a:r>
            <a:r>
              <a:rPr lang="zh-CN" altLang="en" sz="1250" dirty="0">
                <a:solidFill>
                  <a:schemeClr val="bg2"/>
                </a:solidFill>
                <a:latin typeface="Times New Roman" panose="02020603050405020304" pitchFamily="18" charset="0"/>
                <a:cs typeface="Times New Roman" panose="02020603050405020304" pitchFamily="18" charset="0"/>
              </a:rPr>
              <a:t>，</a:t>
            </a:r>
            <a:r>
              <a:rPr lang="zh-CN" altLang="en-US" sz="1250" dirty="0">
                <a:solidFill>
                  <a:schemeClr val="bg2"/>
                </a:solidFill>
                <a:latin typeface="Times New Roman" panose="02020603050405020304" pitchFamily="18" charset="0"/>
                <a:cs typeface="Times New Roman" panose="02020603050405020304" pitchFamily="18" charset="0"/>
              </a:rPr>
              <a:t>另外系统应该能够推理数据完整性，并且应该具有健壮的治理和审核机制，上述三个系统都有该能力。</a:t>
            </a:r>
            <a:r>
              <a:rPr lang="en" altLang="zh-CN" sz="1250" b="1" dirty="0">
                <a:solidFill>
                  <a:schemeClr val="bg2"/>
                </a:solidFill>
                <a:latin typeface="Times New Roman" panose="02020603050405020304" pitchFamily="18" charset="0"/>
                <a:cs typeface="Times New Roman" panose="02020603050405020304" pitchFamily="18" charset="0"/>
              </a:rPr>
              <a:t> </a:t>
            </a:r>
            <a:r>
              <a:rPr lang="en" altLang="zh-CN" sz="1250" b="1" dirty="0">
                <a:solidFill>
                  <a:srgbClr val="00B0F0"/>
                </a:solidFill>
                <a:latin typeface="Times New Roman" panose="02020603050405020304" pitchFamily="18" charset="0"/>
                <a:cs typeface="Times New Roman" panose="02020603050405020304" pitchFamily="18" charset="0"/>
              </a:rPr>
              <a:t>Pravega</a:t>
            </a:r>
            <a:r>
              <a:rPr lang="zh-CN" altLang="en-US" sz="1250" b="1" dirty="0">
                <a:solidFill>
                  <a:srgbClr val="00B0F0"/>
                </a:solidFill>
                <a:latin typeface="Times New Roman" panose="02020603050405020304" pitchFamily="18" charset="0"/>
                <a:cs typeface="Times New Roman" panose="02020603050405020304" pitchFamily="18" charset="0"/>
              </a:rPr>
              <a:t> 有内置的 </a:t>
            </a:r>
            <a:r>
              <a:rPr lang="en" altLang="zh-CN" sz="1250" b="1" dirty="0">
                <a:solidFill>
                  <a:srgbClr val="00B0F0"/>
                </a:solidFill>
                <a:latin typeface="Times New Roman" panose="02020603050405020304" pitchFamily="18" charset="0"/>
                <a:cs typeface="Times New Roman" panose="02020603050405020304" pitchFamily="18" charset="0"/>
              </a:rPr>
              <a:t>Schema</a:t>
            </a:r>
            <a:r>
              <a:rPr lang="zh-CN" altLang="en-US" sz="1250" b="1" dirty="0">
                <a:solidFill>
                  <a:srgbClr val="00B0F0"/>
                </a:solidFill>
                <a:latin typeface="Times New Roman" panose="02020603050405020304" pitchFamily="18" charset="0"/>
                <a:cs typeface="Times New Roman" panose="02020603050405020304" pitchFamily="18" charset="0"/>
              </a:rPr>
              <a:t> 注册服务，提供 </a:t>
            </a:r>
            <a:r>
              <a:rPr lang="en" altLang="zh-CN" sz="1250" b="1" dirty="0">
                <a:solidFill>
                  <a:srgbClr val="00B0F0"/>
                </a:solidFill>
                <a:latin typeface="Times New Roman" panose="02020603050405020304" pitchFamily="18" charset="0"/>
                <a:cs typeface="Times New Roman" panose="02020603050405020304" pitchFamily="18" charset="0"/>
              </a:rPr>
              <a:t>Schema Registry</a:t>
            </a:r>
            <a:r>
              <a:rPr lang="zh-CN" altLang="en-US" sz="1250" b="1" dirty="0">
                <a:solidFill>
                  <a:srgbClr val="00B0F0"/>
                </a:solidFill>
                <a:latin typeface="Times New Roman" panose="02020603050405020304" pitchFamily="18" charset="0"/>
                <a:cs typeface="Times New Roman" panose="02020603050405020304" pitchFamily="18" charset="0"/>
              </a:rPr>
              <a:t> 满足</a:t>
            </a:r>
            <a:r>
              <a:rPr lang="en-US" altLang="zh-CN" sz="1250" b="1" dirty="0">
                <a:solidFill>
                  <a:srgbClr val="00B0F0"/>
                </a:solidFill>
                <a:latin typeface="Times New Roman" panose="02020603050405020304" pitchFamily="18" charset="0"/>
                <a:cs typeface="Times New Roman" panose="02020603050405020304" pitchFamily="18" charset="0"/>
              </a:rPr>
              <a:t> </a:t>
            </a:r>
            <a:r>
              <a:rPr lang="en" altLang="zh-CN" sz="1250" b="1" dirty="0">
                <a:solidFill>
                  <a:srgbClr val="00B0F0"/>
                </a:solidFill>
                <a:latin typeface="Times New Roman" panose="02020603050405020304" pitchFamily="18" charset="0"/>
                <a:cs typeface="Times New Roman" panose="02020603050405020304" pitchFamily="18" charset="0"/>
              </a:rPr>
              <a:t>Schema </a:t>
            </a:r>
            <a:r>
              <a:rPr lang="zh-CN" altLang="en-US" sz="1250" b="1" dirty="0">
                <a:solidFill>
                  <a:srgbClr val="00B0F0"/>
                </a:solidFill>
                <a:latin typeface="Times New Roman" panose="02020603050405020304" pitchFamily="18" charset="0"/>
                <a:cs typeface="Times New Roman" panose="02020603050405020304" pitchFamily="18" charset="0"/>
              </a:rPr>
              <a:t>约束和治理的基本要求。</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 altLang="zh-CN" sz="1250" dirty="0">
                <a:solidFill>
                  <a:schemeClr val="bg2"/>
                </a:solidFill>
                <a:latin typeface="Times New Roman" panose="02020603050405020304" pitchFamily="18" charset="0"/>
                <a:cs typeface="Times New Roman" panose="02020603050405020304" pitchFamily="18" charset="0"/>
              </a:rPr>
              <a:t>BI </a:t>
            </a:r>
            <a:r>
              <a:rPr lang="zh-CN" altLang="en-US" sz="1250" dirty="0">
                <a:solidFill>
                  <a:schemeClr val="bg2"/>
                </a:solidFill>
                <a:latin typeface="Times New Roman" panose="02020603050405020304" pitchFamily="18" charset="0"/>
                <a:cs typeface="Times New Roman" panose="02020603050405020304" pitchFamily="18" charset="0"/>
              </a:rPr>
              <a:t>支持：</a:t>
            </a:r>
            <a:r>
              <a:rPr lang="en" altLang="zh-CN" sz="1250" dirty="0">
                <a:solidFill>
                  <a:schemeClr val="bg2"/>
                </a:solidFill>
                <a:latin typeface="Times New Roman" panose="02020603050405020304" pitchFamily="18" charset="0"/>
                <a:cs typeface="Times New Roman" panose="02020603050405020304" pitchFamily="18" charset="0"/>
              </a:rPr>
              <a:t>Lakehouse </a:t>
            </a:r>
            <a:r>
              <a:rPr lang="zh-CN" altLang="en-US" sz="1250" dirty="0">
                <a:solidFill>
                  <a:schemeClr val="bg2"/>
                </a:solidFill>
                <a:latin typeface="Times New Roman" panose="02020603050405020304" pitchFamily="18" charset="0"/>
                <a:cs typeface="Times New Roman" panose="02020603050405020304" pitchFamily="18" charset="0"/>
              </a:rPr>
              <a:t>能够直接在源数据上使用 </a:t>
            </a:r>
            <a:r>
              <a:rPr lang="en" altLang="zh-CN" sz="1250" dirty="0">
                <a:solidFill>
                  <a:schemeClr val="bg2"/>
                </a:solidFill>
                <a:latin typeface="Times New Roman" panose="02020603050405020304" pitchFamily="18" charset="0"/>
                <a:cs typeface="Times New Roman" panose="02020603050405020304" pitchFamily="18" charset="0"/>
              </a:rPr>
              <a:t>BI</a:t>
            </a:r>
            <a:r>
              <a:rPr lang="zh-CN" altLang="en-US" sz="1250" dirty="0">
                <a:solidFill>
                  <a:schemeClr val="bg2"/>
                </a:solidFill>
                <a:latin typeface="Times New Roman" panose="02020603050405020304" pitchFamily="18" charset="0"/>
                <a:cs typeface="Times New Roman" panose="02020603050405020304" pitchFamily="18" charset="0"/>
              </a:rPr>
              <a:t> 工具，减少陈旧性，提高新鲜度，减少等待时间，并降低必须同时在数据湖和仓库中操作两个数据副本的成本。三个数据湖框架与 </a:t>
            </a:r>
            <a:r>
              <a:rPr lang="en" altLang="zh-CN" sz="1250" dirty="0">
                <a:solidFill>
                  <a:schemeClr val="bg2"/>
                </a:solidFill>
                <a:latin typeface="Times New Roman" panose="02020603050405020304" pitchFamily="18" charset="0"/>
                <a:cs typeface="Times New Roman" panose="02020603050405020304" pitchFamily="18" charset="0"/>
              </a:rPr>
              <a:t>Apache Spark</a:t>
            </a:r>
            <a:r>
              <a:rPr lang="zh-CN" altLang="en-US" sz="1250" dirty="0">
                <a:solidFill>
                  <a:schemeClr val="bg2"/>
                </a:solidFill>
                <a:latin typeface="Times New Roman" panose="02020603050405020304" pitchFamily="18" charset="0"/>
                <a:cs typeface="Times New Roman" panose="02020603050405020304" pitchFamily="18" charset="0"/>
              </a:rPr>
              <a:t> 的集成非常好，同时可以允许 </a:t>
            </a:r>
            <a:r>
              <a:rPr lang="en" altLang="zh-CN" sz="1250" dirty="0">
                <a:solidFill>
                  <a:schemeClr val="bg2"/>
                </a:solidFill>
                <a:latin typeface="Times New Roman" panose="02020603050405020304" pitchFamily="18" charset="0"/>
                <a:cs typeface="Times New Roman" panose="02020603050405020304" pitchFamily="18" charset="0"/>
              </a:rPr>
              <a:t>Redshift</a:t>
            </a:r>
            <a:r>
              <a:rPr lang="zh-CN" altLang="en" sz="1250" dirty="0">
                <a:solidFill>
                  <a:schemeClr val="bg2"/>
                </a:solidFill>
                <a:latin typeface="Times New Roman" panose="02020603050405020304" pitchFamily="18" charset="0"/>
                <a:cs typeface="Times New Roman" panose="02020603050405020304" pitchFamily="18" charset="0"/>
              </a:rPr>
              <a:t>，</a:t>
            </a:r>
            <a:r>
              <a:rPr lang="en" altLang="zh-CN" sz="1250" dirty="0">
                <a:solidFill>
                  <a:schemeClr val="bg2"/>
                </a:solidFill>
                <a:latin typeface="Times New Roman" panose="02020603050405020304" pitchFamily="18" charset="0"/>
                <a:cs typeface="Times New Roman" panose="02020603050405020304" pitchFamily="18" charset="0"/>
              </a:rPr>
              <a:t>Presto/Athena</a:t>
            </a:r>
            <a:r>
              <a:rPr lang="zh-CN" altLang="en-US" sz="1250" dirty="0">
                <a:solidFill>
                  <a:schemeClr val="bg2"/>
                </a:solidFill>
                <a:latin typeface="Times New Roman" panose="02020603050405020304" pitchFamily="18" charset="0"/>
                <a:cs typeface="Times New Roman" panose="02020603050405020304" pitchFamily="18" charset="0"/>
              </a:rPr>
              <a:t> 查询源数据，</a:t>
            </a:r>
            <a:r>
              <a:rPr lang="en" altLang="zh-CN" sz="1250" dirty="0" err="1">
                <a:solidFill>
                  <a:schemeClr val="bg2"/>
                </a:solidFill>
                <a:latin typeface="Times New Roman" panose="02020603050405020304" pitchFamily="18" charset="0"/>
                <a:cs typeface="Times New Roman" panose="02020603050405020304" pitchFamily="18" charset="0"/>
              </a:rPr>
              <a:t>Hudi</a:t>
            </a:r>
            <a:r>
              <a:rPr lang="zh-CN" altLang="en-US" sz="1250" dirty="0">
                <a:solidFill>
                  <a:schemeClr val="bg2"/>
                </a:solidFill>
                <a:latin typeface="Times New Roman" panose="02020603050405020304" pitchFamily="18" charset="0"/>
                <a:cs typeface="Times New Roman" panose="02020603050405020304" pitchFamily="18" charset="0"/>
              </a:rPr>
              <a:t> 社区完成对多引擎如 </a:t>
            </a:r>
            <a:r>
              <a:rPr lang="en-US" altLang="zh-CN" sz="1250" dirty="0">
                <a:solidFill>
                  <a:schemeClr val="bg2"/>
                </a:solidFill>
                <a:latin typeface="Times New Roman" panose="02020603050405020304" pitchFamily="18" charset="0"/>
                <a:cs typeface="Times New Roman" panose="02020603050405020304" pitchFamily="18" charset="0"/>
              </a:rPr>
              <a:t> Apache </a:t>
            </a:r>
            <a:r>
              <a:rPr lang="en" altLang="zh-CN" sz="1250" dirty="0" err="1">
                <a:solidFill>
                  <a:schemeClr val="bg2"/>
                </a:solidFill>
                <a:latin typeface="Times New Roman" panose="02020603050405020304" pitchFamily="18" charset="0"/>
                <a:cs typeface="Times New Roman" panose="02020603050405020304" pitchFamily="18" charset="0"/>
              </a:rPr>
              <a:t>Flink</a:t>
            </a:r>
            <a:r>
              <a:rPr lang="en" altLang="zh-CN" sz="1250" dirty="0">
                <a:solidFill>
                  <a:schemeClr val="bg2"/>
                </a:solidFill>
                <a:latin typeface="Times New Roman" panose="02020603050405020304" pitchFamily="18" charset="0"/>
                <a:cs typeface="Times New Roman" panose="02020603050405020304" pitchFamily="18" charset="0"/>
              </a:rPr>
              <a:t> </a:t>
            </a:r>
            <a:r>
              <a:rPr lang="zh-CN" altLang="en-US" sz="1250" dirty="0">
                <a:solidFill>
                  <a:schemeClr val="bg2"/>
                </a:solidFill>
                <a:latin typeface="Times New Roman" panose="02020603050405020304" pitchFamily="18" charset="0"/>
                <a:cs typeface="Times New Roman" panose="02020603050405020304" pitchFamily="18" charset="0"/>
              </a:rPr>
              <a:t>的支持。</a:t>
            </a:r>
            <a:r>
              <a:rPr lang="en" altLang="zh-CN" sz="1250" b="1" dirty="0">
                <a:solidFill>
                  <a:srgbClr val="00B0F0"/>
                </a:solidFill>
                <a:latin typeface="Times New Roman" panose="02020603050405020304" pitchFamily="18" charset="0"/>
                <a:cs typeface="Times New Roman" panose="02020603050405020304" pitchFamily="18" charset="0"/>
              </a:rPr>
              <a:t>Pravega </a:t>
            </a:r>
            <a:r>
              <a:rPr lang="zh-CN" altLang="en-US" sz="1250" b="1" dirty="0">
                <a:solidFill>
                  <a:srgbClr val="00B0F0"/>
                </a:solidFill>
                <a:latin typeface="Times New Roman" panose="02020603050405020304" pitchFamily="18" charset="0"/>
                <a:cs typeface="Times New Roman" panose="02020603050405020304" pitchFamily="18" charset="0"/>
              </a:rPr>
              <a:t>暴露分层存储中的</a:t>
            </a:r>
            <a:r>
              <a:rPr lang="en-US" altLang="zh-CN" sz="1250" b="1" dirty="0">
                <a:solidFill>
                  <a:srgbClr val="00B0F0"/>
                </a:solidFill>
                <a:latin typeface="Times New Roman" panose="02020603050405020304" pitchFamily="18" charset="0"/>
                <a:cs typeface="Times New Roman" panose="02020603050405020304" pitchFamily="18" charset="0"/>
              </a:rPr>
              <a:t> Segment </a:t>
            </a:r>
            <a:r>
              <a:rPr lang="zh-CN" altLang="en-US" sz="1250" b="1" dirty="0">
                <a:solidFill>
                  <a:srgbClr val="00B0F0"/>
                </a:solidFill>
                <a:latin typeface="Times New Roman" panose="02020603050405020304" pitchFamily="18" charset="0"/>
                <a:cs typeface="Times New Roman" panose="02020603050405020304" pitchFamily="18" charset="0"/>
              </a:rPr>
              <a:t>以供直接访问，这样与流行的数据处理引擎紧密集成。</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zh-CN" altLang="en-US" sz="1250" dirty="0">
                <a:solidFill>
                  <a:schemeClr val="bg2"/>
                </a:solidFill>
                <a:latin typeface="Times New Roman" panose="02020603050405020304" pitchFamily="18" charset="0"/>
                <a:cs typeface="Times New Roman" panose="02020603050405020304" pitchFamily="18" charset="0"/>
              </a:rPr>
              <a:t>存储与计算分离：这意味着存储和计算使用单独的集群，因此这些系统可以单独水平无限扩容。三个框均支持存储与计算分离。</a:t>
            </a:r>
            <a:r>
              <a:rPr lang="en" altLang="zh-CN" sz="1250" b="1" dirty="0">
                <a:solidFill>
                  <a:schemeClr val="bg2"/>
                </a:solidFill>
                <a:latin typeface="Times New Roman" panose="02020603050405020304" pitchFamily="18" charset="0"/>
                <a:cs typeface="Times New Roman" panose="02020603050405020304" pitchFamily="18" charset="0"/>
              </a:rPr>
              <a:t> </a:t>
            </a:r>
            <a:r>
              <a:rPr lang="en" altLang="zh-CN" sz="1250" b="1" dirty="0">
                <a:solidFill>
                  <a:srgbClr val="00B0F0"/>
                </a:solidFill>
                <a:latin typeface="Times New Roman" panose="02020603050405020304" pitchFamily="18" charset="0"/>
                <a:cs typeface="Times New Roman" panose="02020603050405020304" pitchFamily="18" charset="0"/>
              </a:rPr>
              <a:t>Pravega </a:t>
            </a:r>
            <a:r>
              <a:rPr lang="zh-CN" altLang="en-US" sz="1250" b="1" dirty="0">
                <a:solidFill>
                  <a:srgbClr val="00B0F0"/>
                </a:solidFill>
                <a:latin typeface="Times New Roman" panose="02020603050405020304" pitchFamily="18" charset="0"/>
                <a:cs typeface="Times New Roman" panose="02020603050405020304" pitchFamily="18" charset="0"/>
              </a:rPr>
              <a:t>使用存储与计算分离的多层体系结构部署。</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zh-CN" altLang="en-US" sz="1250" dirty="0">
                <a:solidFill>
                  <a:schemeClr val="bg2"/>
                </a:solidFill>
                <a:latin typeface="Times New Roman" panose="02020603050405020304" pitchFamily="18" charset="0"/>
                <a:cs typeface="Times New Roman" panose="02020603050405020304" pitchFamily="18" charset="0"/>
              </a:rPr>
              <a:t>开放性：使用开放和标准化的数据格式例如 </a:t>
            </a:r>
            <a:r>
              <a:rPr lang="en" altLang="zh-CN" sz="1250" dirty="0">
                <a:solidFill>
                  <a:schemeClr val="bg2"/>
                </a:solidFill>
                <a:latin typeface="Times New Roman" panose="02020603050405020304" pitchFamily="18" charset="0"/>
                <a:cs typeface="Times New Roman" panose="02020603050405020304" pitchFamily="18" charset="0"/>
              </a:rPr>
              <a:t>Parquet</a:t>
            </a:r>
            <a:r>
              <a:rPr lang="zh-CN" altLang="en-US" sz="1250" dirty="0">
                <a:solidFill>
                  <a:schemeClr val="bg2"/>
                </a:solidFill>
                <a:latin typeface="Times New Roman" panose="02020603050405020304" pitchFamily="18" charset="0"/>
                <a:cs typeface="Times New Roman" panose="02020603050405020304" pitchFamily="18" charset="0"/>
              </a:rPr>
              <a:t> 并且提供</a:t>
            </a:r>
            <a:r>
              <a:rPr lang="en" altLang="zh-CN" sz="1250" dirty="0">
                <a:solidFill>
                  <a:schemeClr val="bg2"/>
                </a:solidFill>
                <a:latin typeface="Times New Roman" panose="02020603050405020304" pitchFamily="18" charset="0"/>
                <a:cs typeface="Times New Roman" panose="02020603050405020304" pitchFamily="18" charset="0"/>
              </a:rPr>
              <a:t>API</a:t>
            </a:r>
            <a:r>
              <a:rPr lang="zh-CN" altLang="en" sz="1250" dirty="0">
                <a:solidFill>
                  <a:schemeClr val="bg2"/>
                </a:solidFill>
                <a:latin typeface="Times New Roman" panose="02020603050405020304" pitchFamily="18" charset="0"/>
                <a:cs typeface="Times New Roman" panose="02020603050405020304" pitchFamily="18" charset="0"/>
              </a:rPr>
              <a:t>，</a:t>
            </a:r>
            <a:r>
              <a:rPr lang="zh-CN" altLang="en-US" sz="1250" dirty="0">
                <a:solidFill>
                  <a:schemeClr val="bg2"/>
                </a:solidFill>
                <a:latin typeface="Times New Roman" panose="02020603050405020304" pitchFamily="18" charset="0"/>
                <a:cs typeface="Times New Roman" panose="02020603050405020304" pitchFamily="18" charset="0"/>
              </a:rPr>
              <a:t>因此各种工具和引擎包括机器学习和 </a:t>
            </a:r>
            <a:r>
              <a:rPr lang="en" altLang="zh-CN" sz="1250" dirty="0">
                <a:solidFill>
                  <a:schemeClr val="bg2"/>
                </a:solidFill>
                <a:latin typeface="Times New Roman" panose="02020603050405020304" pitchFamily="18" charset="0"/>
                <a:cs typeface="Times New Roman" panose="02020603050405020304" pitchFamily="18" charset="0"/>
              </a:rPr>
              <a:t>Python/R</a:t>
            </a:r>
            <a:r>
              <a:rPr lang="zh-CN" altLang="en-US" sz="1250" dirty="0">
                <a:solidFill>
                  <a:schemeClr val="bg2"/>
                </a:solidFill>
                <a:latin typeface="Times New Roman" panose="02020603050405020304" pitchFamily="18" charset="0"/>
                <a:cs typeface="Times New Roman" panose="02020603050405020304" pitchFamily="18" charset="0"/>
              </a:rPr>
              <a:t> 库</a:t>
            </a:r>
            <a:r>
              <a:rPr lang="en-US" altLang="zh-CN" sz="1250" dirty="0">
                <a:solidFill>
                  <a:schemeClr val="bg2"/>
                </a:solidFill>
                <a:latin typeface="Times New Roman" panose="02020603050405020304" pitchFamily="18" charset="0"/>
                <a:cs typeface="Times New Roman" panose="02020603050405020304" pitchFamily="18" charset="0"/>
              </a:rPr>
              <a:t>“</a:t>
            </a:r>
            <a:r>
              <a:rPr lang="zh-CN" altLang="en-US" sz="1250" dirty="0">
                <a:solidFill>
                  <a:schemeClr val="bg2"/>
                </a:solidFill>
                <a:latin typeface="Times New Roman" panose="02020603050405020304" pitchFamily="18" charset="0"/>
                <a:cs typeface="Times New Roman" panose="02020603050405020304" pitchFamily="18" charset="0"/>
              </a:rPr>
              <a:t>直接</a:t>
            </a:r>
            <a:r>
              <a:rPr lang="en-US" altLang="zh-CN" sz="1250" dirty="0">
                <a:solidFill>
                  <a:schemeClr val="bg2"/>
                </a:solidFill>
                <a:latin typeface="Times New Roman" panose="02020603050405020304" pitchFamily="18" charset="0"/>
                <a:cs typeface="Times New Roman" panose="02020603050405020304" pitchFamily="18" charset="0"/>
              </a:rPr>
              <a:t>”</a:t>
            </a:r>
            <a:r>
              <a:rPr lang="zh-CN" altLang="en-US" sz="1250" dirty="0">
                <a:solidFill>
                  <a:schemeClr val="bg2"/>
                </a:solidFill>
                <a:latin typeface="Times New Roman" panose="02020603050405020304" pitchFamily="18" charset="0"/>
                <a:cs typeface="Times New Roman" panose="02020603050405020304" pitchFamily="18" charset="0"/>
              </a:rPr>
              <a:t>有效地访问数据，三个框架支持 </a:t>
            </a:r>
            <a:r>
              <a:rPr lang="en" altLang="zh-CN" sz="1250" dirty="0">
                <a:solidFill>
                  <a:schemeClr val="bg2"/>
                </a:solidFill>
                <a:latin typeface="Times New Roman" panose="02020603050405020304" pitchFamily="18" charset="0"/>
                <a:cs typeface="Times New Roman" panose="02020603050405020304" pitchFamily="18" charset="0"/>
              </a:rPr>
              <a:t>Parquet</a:t>
            </a:r>
            <a:r>
              <a:rPr lang="zh-CN" altLang="en-US" sz="1250" dirty="0">
                <a:solidFill>
                  <a:schemeClr val="bg2"/>
                </a:solidFill>
                <a:latin typeface="Times New Roman" panose="02020603050405020304" pitchFamily="18" charset="0"/>
                <a:cs typeface="Times New Roman" panose="02020603050405020304" pitchFamily="18" charset="0"/>
              </a:rPr>
              <a:t> 格式，</a:t>
            </a:r>
            <a:r>
              <a:rPr lang="en" altLang="zh-CN" sz="1250" dirty="0">
                <a:solidFill>
                  <a:schemeClr val="bg2"/>
                </a:solidFill>
                <a:latin typeface="Times New Roman" panose="02020603050405020304" pitchFamily="18" charset="0"/>
                <a:cs typeface="Times New Roman" panose="02020603050405020304" pitchFamily="18" charset="0"/>
              </a:rPr>
              <a:t>Iceberg </a:t>
            </a:r>
            <a:r>
              <a:rPr lang="zh-CN" altLang="en-US" sz="1250" dirty="0">
                <a:solidFill>
                  <a:schemeClr val="bg2"/>
                </a:solidFill>
                <a:latin typeface="Times New Roman" panose="02020603050405020304" pitchFamily="18" charset="0"/>
                <a:cs typeface="Times New Roman" panose="02020603050405020304" pitchFamily="18" charset="0"/>
              </a:rPr>
              <a:t>还支持 </a:t>
            </a:r>
            <a:r>
              <a:rPr lang="en" altLang="zh-CN" sz="1250" dirty="0">
                <a:solidFill>
                  <a:schemeClr val="bg2"/>
                </a:solidFill>
                <a:latin typeface="Times New Roman" panose="02020603050405020304" pitchFamily="18" charset="0"/>
                <a:cs typeface="Times New Roman" panose="02020603050405020304" pitchFamily="18" charset="0"/>
              </a:rPr>
              <a:t>ORC</a:t>
            </a:r>
            <a:r>
              <a:rPr lang="zh-CN" altLang="en-US" sz="1250" dirty="0">
                <a:solidFill>
                  <a:schemeClr val="bg2"/>
                </a:solidFill>
                <a:latin typeface="Times New Roman" panose="02020603050405020304" pitchFamily="18" charset="0"/>
                <a:cs typeface="Times New Roman" panose="02020603050405020304" pitchFamily="18" charset="0"/>
              </a:rPr>
              <a:t> 格式，对于 </a:t>
            </a:r>
            <a:r>
              <a:rPr lang="en" altLang="zh-CN" sz="1250" dirty="0">
                <a:solidFill>
                  <a:schemeClr val="bg2"/>
                </a:solidFill>
                <a:latin typeface="Times New Roman" panose="02020603050405020304" pitchFamily="18" charset="0"/>
                <a:cs typeface="Times New Roman" panose="02020603050405020304" pitchFamily="18" charset="0"/>
              </a:rPr>
              <a:t>ORC</a:t>
            </a:r>
            <a:r>
              <a:rPr lang="zh-CN" altLang="en-US" sz="1250" dirty="0">
                <a:solidFill>
                  <a:schemeClr val="bg2"/>
                </a:solidFill>
                <a:latin typeface="Times New Roman" panose="02020603050405020304" pitchFamily="18" charset="0"/>
                <a:cs typeface="Times New Roman" panose="02020603050405020304" pitchFamily="18" charset="0"/>
              </a:rPr>
              <a:t> 格式 </a:t>
            </a:r>
            <a:r>
              <a:rPr lang="en" altLang="zh-CN" sz="1250" dirty="0" err="1">
                <a:solidFill>
                  <a:schemeClr val="bg2"/>
                </a:solidFill>
                <a:latin typeface="Times New Roman" panose="02020603050405020304" pitchFamily="18" charset="0"/>
                <a:cs typeface="Times New Roman" panose="02020603050405020304" pitchFamily="18" charset="0"/>
              </a:rPr>
              <a:t>Hudi</a:t>
            </a:r>
            <a:r>
              <a:rPr lang="zh-CN" altLang="en-US" sz="1250" dirty="0">
                <a:solidFill>
                  <a:schemeClr val="bg2"/>
                </a:solidFill>
                <a:latin typeface="Times New Roman" panose="02020603050405020304" pitchFamily="18" charset="0"/>
                <a:cs typeface="Times New Roman" panose="02020603050405020304" pitchFamily="18" charset="0"/>
              </a:rPr>
              <a:t> 社区正在支持中。</a:t>
            </a:r>
            <a:r>
              <a:rPr lang="en-US" altLang="zh-CN" sz="1250" b="1" dirty="0">
                <a:solidFill>
                  <a:srgbClr val="00B0F0"/>
                </a:solidFill>
                <a:latin typeface="Times New Roman" panose="02020603050405020304" pitchFamily="18" charset="0"/>
                <a:cs typeface="Times New Roman" panose="02020603050405020304" pitchFamily="18" charset="0"/>
              </a:rPr>
              <a:t>Pravega</a:t>
            </a:r>
            <a:r>
              <a:rPr lang="zh-CN" altLang="en-US" sz="1250" b="1" dirty="0">
                <a:solidFill>
                  <a:srgbClr val="00B0F0"/>
                </a:solidFill>
                <a:latin typeface="Times New Roman" panose="02020603050405020304" pitchFamily="18" charset="0"/>
                <a:cs typeface="Times New Roman" panose="02020603050405020304" pitchFamily="18" charset="0"/>
              </a:rPr>
              <a:t> 提供对流数据的长期存储，即冷数据的存储。支持 </a:t>
            </a:r>
            <a:r>
              <a:rPr lang="en" altLang="zh-CN" sz="1250" b="1" dirty="0">
                <a:solidFill>
                  <a:srgbClr val="00B0F0"/>
                </a:solidFill>
                <a:latin typeface="Times New Roman" panose="02020603050405020304" pitchFamily="18" charset="0"/>
                <a:cs typeface="Times New Roman" panose="02020603050405020304" pitchFamily="18" charset="0"/>
              </a:rPr>
              <a:t>HDFS</a:t>
            </a:r>
            <a:r>
              <a:rPr lang="zh-CN" altLang="e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NFS</a:t>
            </a:r>
            <a:r>
              <a:rPr lang="zh-CN" altLang="en" sz="1250" b="1" dirty="0">
                <a:solidFill>
                  <a:srgbClr val="00B0F0"/>
                </a:solidFill>
                <a:latin typeface="Times New Roman" panose="02020603050405020304" pitchFamily="18" charset="0"/>
                <a:cs typeface="Times New Roman" panose="02020603050405020304" pitchFamily="18" charset="0"/>
              </a:rPr>
              <a:t>，</a:t>
            </a:r>
            <a:r>
              <a:rPr lang="zh-CN" altLang="en-US" sz="1250" b="1" dirty="0">
                <a:solidFill>
                  <a:srgbClr val="00B0F0"/>
                </a:solidFill>
                <a:latin typeface="Times New Roman" panose="02020603050405020304" pitchFamily="18" charset="0"/>
                <a:cs typeface="Times New Roman" panose="02020603050405020304" pitchFamily="18" charset="0"/>
              </a:rPr>
              <a:t>以及企业级的存储如 </a:t>
            </a:r>
            <a:r>
              <a:rPr lang="en" altLang="zh-CN" sz="1250" b="1" dirty="0">
                <a:solidFill>
                  <a:srgbClr val="00B0F0"/>
                </a:solidFill>
                <a:latin typeface="Times New Roman" panose="02020603050405020304" pitchFamily="18" charset="0"/>
                <a:cs typeface="Times New Roman" panose="02020603050405020304" pitchFamily="18" charset="0"/>
              </a:rPr>
              <a:t>Dell EMC</a:t>
            </a:r>
            <a:r>
              <a:rPr lang="zh-CN" altLang="en-US" sz="1250" b="1" dirty="0">
                <a:solidFill>
                  <a:srgbClr val="00B0F0"/>
                </a:solidFill>
                <a:latin typeface="Times New Roman" panose="02020603050405020304" pitchFamily="18" charset="0"/>
                <a:cs typeface="Times New Roman" panose="02020603050405020304" pitchFamily="18" charset="0"/>
              </a:rPr>
              <a:t>的 </a:t>
            </a:r>
            <a:r>
              <a:rPr lang="en" altLang="zh-CN" sz="1250" b="1" dirty="0">
                <a:solidFill>
                  <a:srgbClr val="00B0F0"/>
                </a:solidFill>
                <a:latin typeface="Times New Roman" panose="02020603050405020304" pitchFamily="18" charset="0"/>
                <a:cs typeface="Times New Roman" panose="02020603050405020304" pitchFamily="18" charset="0"/>
              </a:rPr>
              <a:t>ECS</a:t>
            </a:r>
            <a:r>
              <a:rPr lang="zh-CN" altLang="e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Isilon </a:t>
            </a:r>
            <a:r>
              <a:rPr lang="zh-CN" altLang="en-US" sz="1250" b="1" dirty="0">
                <a:solidFill>
                  <a:srgbClr val="00B0F0"/>
                </a:solidFill>
                <a:latin typeface="Times New Roman" panose="02020603050405020304" pitchFamily="18" charset="0"/>
                <a:cs typeface="Times New Roman" panose="02020603050405020304" pitchFamily="18" charset="0"/>
              </a:rPr>
              <a:t>等产品。</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zh-CN" altLang="en-US" sz="1250" dirty="0">
                <a:solidFill>
                  <a:schemeClr val="bg2"/>
                </a:solidFill>
                <a:latin typeface="Times New Roman" panose="02020603050405020304" pitchFamily="18" charset="0"/>
                <a:cs typeface="Times New Roman" panose="02020603050405020304" pitchFamily="18" charset="0"/>
              </a:rPr>
              <a:t>支持从非结构化数据到结构化数据的多种数据类型：</a:t>
            </a:r>
            <a:r>
              <a:rPr lang="en" altLang="zh-CN" sz="1250" dirty="0">
                <a:solidFill>
                  <a:schemeClr val="bg2"/>
                </a:solidFill>
                <a:latin typeface="Times New Roman" panose="02020603050405020304" pitchFamily="18" charset="0"/>
                <a:cs typeface="Times New Roman" panose="02020603050405020304" pitchFamily="18" charset="0"/>
              </a:rPr>
              <a:t>Lakehouse</a:t>
            </a:r>
            <a:r>
              <a:rPr lang="zh-CN" altLang="en-US" sz="1250" dirty="0">
                <a:solidFill>
                  <a:schemeClr val="bg2"/>
                </a:solidFill>
                <a:latin typeface="Times New Roman" panose="02020603050405020304" pitchFamily="18" charset="0"/>
                <a:cs typeface="Times New Roman" panose="02020603050405020304" pitchFamily="18" charset="0"/>
              </a:rPr>
              <a:t> 可用于存储，优化，分析和访问许多新数据应用程序所需的数据类型，包括图像，视频，音频，半结构化数据和文本。</a:t>
            </a:r>
            <a:r>
              <a:rPr lang="en-US" altLang="zh-CN" sz="1250" b="1" dirty="0">
                <a:solidFill>
                  <a:srgbClr val="00B0F0"/>
                </a:solidFill>
                <a:latin typeface="Times New Roman" panose="02020603050405020304" pitchFamily="18" charset="0"/>
                <a:cs typeface="Times New Roman" panose="02020603050405020304" pitchFamily="18" charset="0"/>
              </a:rPr>
              <a:t>Pravega</a:t>
            </a:r>
            <a:r>
              <a:rPr lang="zh-CN" altLang="en-US" sz="1250" b="1" dirty="0">
                <a:solidFill>
                  <a:srgbClr val="00B0F0"/>
                </a:solidFill>
                <a:latin typeface="Times New Roman" panose="02020603050405020304" pitchFamily="18" charset="0"/>
                <a:cs typeface="Times New Roman" panose="02020603050405020304" pitchFamily="18" charset="0"/>
              </a:rPr>
              <a:t> 支持对象存储，在 </a:t>
            </a:r>
            <a:r>
              <a:rPr lang="en" altLang="zh-CN" sz="1250" b="1" dirty="0">
                <a:solidFill>
                  <a:srgbClr val="00B0F0"/>
                </a:solidFill>
                <a:latin typeface="Times New Roman" panose="02020603050405020304" pitchFamily="18" charset="0"/>
                <a:cs typeface="Times New Roman" panose="02020603050405020304" pitchFamily="18" charset="0"/>
              </a:rPr>
              <a:t>Pravega </a:t>
            </a:r>
            <a:r>
              <a:rPr lang="zh-CN" altLang="en-US" sz="1250" b="1" dirty="0">
                <a:solidFill>
                  <a:srgbClr val="00B0F0"/>
                </a:solidFill>
                <a:latin typeface="Times New Roman" panose="02020603050405020304" pitchFamily="18" charset="0"/>
                <a:cs typeface="Times New Roman" panose="02020603050405020304" pitchFamily="18" charset="0"/>
              </a:rPr>
              <a:t>里，日志是作为共享存储原语而存在的，数据以事件 </a:t>
            </a:r>
            <a:r>
              <a:rPr lang="en-US" altLang="zh-C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event) </a:t>
            </a:r>
            <a:r>
              <a:rPr lang="zh-CN" altLang="en-US" sz="1250" b="1" dirty="0">
                <a:solidFill>
                  <a:srgbClr val="00B0F0"/>
                </a:solidFill>
                <a:latin typeface="Times New Roman" panose="02020603050405020304" pitchFamily="18" charset="0"/>
                <a:cs typeface="Times New Roman" panose="02020603050405020304" pitchFamily="18" charset="0"/>
              </a:rPr>
              <a:t>的形式以仅附加的方式写入日志当中。 </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zh-CN" altLang="en-US" sz="1250" dirty="0">
                <a:solidFill>
                  <a:schemeClr val="bg2"/>
                </a:solidFill>
                <a:latin typeface="Times New Roman" panose="02020603050405020304" pitchFamily="18" charset="0"/>
                <a:cs typeface="Times New Roman" panose="02020603050405020304" pitchFamily="18" charset="0"/>
              </a:rPr>
              <a:t>支持各种工作负载：包括数据科学，机器学习以及 </a:t>
            </a:r>
            <a:r>
              <a:rPr lang="en" altLang="zh-CN" sz="1250" dirty="0">
                <a:solidFill>
                  <a:schemeClr val="bg2"/>
                </a:solidFill>
                <a:latin typeface="Times New Roman" panose="02020603050405020304" pitchFamily="18" charset="0"/>
                <a:cs typeface="Times New Roman" panose="02020603050405020304" pitchFamily="18" charset="0"/>
              </a:rPr>
              <a:t>SQL</a:t>
            </a:r>
            <a:r>
              <a:rPr lang="zh-CN" altLang="en-US" sz="1250" dirty="0">
                <a:solidFill>
                  <a:schemeClr val="bg2"/>
                </a:solidFill>
                <a:latin typeface="Times New Roman" panose="02020603050405020304" pitchFamily="18" charset="0"/>
                <a:cs typeface="Times New Roman" panose="02020603050405020304" pitchFamily="18" charset="0"/>
              </a:rPr>
              <a:t> 和分析。可能需要多种工具来支持所有这些工作负载，但它们都依赖于同一数据存储库。三个框架与 </a:t>
            </a:r>
            <a:r>
              <a:rPr lang="en" altLang="zh-CN" sz="1250" dirty="0">
                <a:solidFill>
                  <a:schemeClr val="bg2"/>
                </a:solidFill>
                <a:latin typeface="Times New Roman" panose="02020603050405020304" pitchFamily="18" charset="0"/>
                <a:cs typeface="Times New Roman" panose="02020603050405020304" pitchFamily="18" charset="0"/>
              </a:rPr>
              <a:t>Spark</a:t>
            </a:r>
            <a:r>
              <a:rPr lang="en-US" altLang="zh-CN" sz="1250" dirty="0">
                <a:solidFill>
                  <a:schemeClr val="bg2"/>
                </a:solidFill>
                <a:latin typeface="Times New Roman" panose="02020603050405020304" pitchFamily="18" charset="0"/>
                <a:cs typeface="Times New Roman" panose="02020603050405020304" pitchFamily="18" charset="0"/>
              </a:rPr>
              <a:t>/</a:t>
            </a:r>
            <a:r>
              <a:rPr lang="en-US" altLang="zh-CN" sz="1250" dirty="0" err="1">
                <a:solidFill>
                  <a:schemeClr val="bg2"/>
                </a:solidFill>
                <a:latin typeface="Times New Roman" panose="02020603050405020304" pitchFamily="18" charset="0"/>
                <a:cs typeface="Times New Roman" panose="02020603050405020304" pitchFamily="18" charset="0"/>
              </a:rPr>
              <a:t>Flink</a:t>
            </a:r>
            <a:r>
              <a:rPr lang="zh-CN" altLang="en-US" sz="1250" dirty="0">
                <a:solidFill>
                  <a:schemeClr val="bg2"/>
                </a:solidFill>
                <a:latin typeface="Times New Roman" panose="02020603050405020304" pitchFamily="18" charset="0"/>
                <a:cs typeface="Times New Roman" panose="02020603050405020304" pitchFamily="18" charset="0"/>
              </a:rPr>
              <a:t> 紧密结合。</a:t>
            </a:r>
            <a:r>
              <a:rPr lang="en" altLang="zh-CN" sz="1250" b="1" dirty="0">
                <a:solidFill>
                  <a:srgbClr val="00B0F0"/>
                </a:solidFill>
                <a:latin typeface="Times New Roman" panose="02020603050405020304" pitchFamily="18" charset="0"/>
                <a:cs typeface="Times New Roman" panose="02020603050405020304" pitchFamily="18" charset="0"/>
              </a:rPr>
              <a:t> Pravega</a:t>
            </a:r>
            <a:r>
              <a:rPr lang="zh-CN" altLang="en-US" sz="1250" b="1" dirty="0">
                <a:solidFill>
                  <a:srgbClr val="00B0F0"/>
                </a:solidFill>
                <a:latin typeface="Times New Roman" panose="02020603050405020304" pitchFamily="18" charset="0"/>
                <a:cs typeface="Times New Roman" panose="02020603050405020304" pitchFamily="18" charset="0"/>
              </a:rPr>
              <a:t> 提供 </a:t>
            </a:r>
            <a:r>
              <a:rPr lang="en-US" altLang="zh-CN" sz="1250" b="1" dirty="0">
                <a:solidFill>
                  <a:srgbClr val="00B0F0"/>
                </a:solidFill>
                <a:latin typeface="Times New Roman" panose="02020603050405020304" pitchFamily="18" charset="0"/>
                <a:cs typeface="Times New Roman" panose="02020603050405020304" pitchFamily="18" charset="0"/>
              </a:rPr>
              <a:t>Spark</a:t>
            </a:r>
            <a:r>
              <a:rPr lang="zh-CN" altLang="en-US" sz="1250" b="1" dirty="0">
                <a:solidFill>
                  <a:srgbClr val="00B0F0"/>
                </a:solidFill>
                <a:latin typeface="Times New Roman" panose="02020603050405020304" pitchFamily="18" charset="0"/>
                <a:cs typeface="Times New Roman" panose="02020603050405020304" pitchFamily="18" charset="0"/>
              </a:rPr>
              <a:t> 和 </a:t>
            </a:r>
            <a:r>
              <a:rPr lang="en-US" altLang="zh-CN" sz="1250" b="1" dirty="0" err="1">
                <a:solidFill>
                  <a:srgbClr val="00B0F0"/>
                </a:solidFill>
                <a:latin typeface="Times New Roman" panose="02020603050405020304" pitchFamily="18" charset="0"/>
                <a:cs typeface="Times New Roman" panose="02020603050405020304" pitchFamily="18" charset="0"/>
              </a:rPr>
              <a:t>Flink</a:t>
            </a:r>
            <a:r>
              <a:rPr lang="zh-CN" altLang="en-US" sz="1250" b="1" dirty="0">
                <a:solidFill>
                  <a:srgbClr val="00B0F0"/>
                </a:solidFill>
                <a:latin typeface="Times New Roman" panose="02020603050405020304" pitchFamily="18" charset="0"/>
                <a:cs typeface="Times New Roman" panose="02020603050405020304" pitchFamily="18" charset="0"/>
              </a:rPr>
              <a:t> 的 </a:t>
            </a:r>
            <a:r>
              <a:rPr lang="en-US" altLang="zh-CN" sz="1250" b="1" dirty="0">
                <a:solidFill>
                  <a:srgbClr val="00B0F0"/>
                </a:solidFill>
                <a:latin typeface="Times New Roman" panose="02020603050405020304" pitchFamily="18" charset="0"/>
                <a:cs typeface="Times New Roman" panose="02020603050405020304" pitchFamily="18" charset="0"/>
              </a:rPr>
              <a:t>Connector</a:t>
            </a:r>
            <a:r>
              <a:rPr lang="zh-CN" altLang="en-US" sz="1250" b="1" dirty="0">
                <a:solidFill>
                  <a:srgbClr val="00B0F0"/>
                </a:solidFill>
                <a:latin typeface="Times New Roman" panose="02020603050405020304" pitchFamily="18" charset="0"/>
                <a:cs typeface="Times New Roman" panose="02020603050405020304" pitchFamily="18" charset="0"/>
              </a:rPr>
              <a:t> 对接这两者计算引擎。</a:t>
            </a:r>
            <a:endParaRPr lang="en-US" altLang="zh-CN" sz="1250" b="1" dirty="0">
              <a:solidFill>
                <a:srgbClr val="00B0F0"/>
              </a:solidFill>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zh-CN" altLang="en-US" sz="1250" dirty="0">
                <a:solidFill>
                  <a:schemeClr val="bg2"/>
                </a:solidFill>
                <a:latin typeface="Times New Roman" panose="02020603050405020304" pitchFamily="18" charset="0"/>
                <a:cs typeface="Times New Roman" panose="02020603050405020304" pitchFamily="18" charset="0"/>
              </a:rPr>
              <a:t>端到端流：实时报告是许多企业的常态，对流的支持消除了对专门用于服务实时数据应用程序的单独系统的需求，</a:t>
            </a:r>
            <a:r>
              <a:rPr lang="en" altLang="zh-CN" sz="1250" dirty="0">
                <a:solidFill>
                  <a:schemeClr val="bg2"/>
                </a:solidFill>
                <a:latin typeface="Times New Roman" panose="02020603050405020304" pitchFamily="18" charset="0"/>
                <a:cs typeface="Times New Roman" panose="02020603050405020304" pitchFamily="18" charset="0"/>
              </a:rPr>
              <a:t>Delta Lake</a:t>
            </a:r>
            <a:r>
              <a:rPr lang="zh-CN" altLang="en-US" sz="1250" dirty="0">
                <a:solidFill>
                  <a:schemeClr val="bg2"/>
                </a:solidFill>
                <a:latin typeface="Times New Roman" panose="02020603050405020304" pitchFamily="18" charset="0"/>
                <a:cs typeface="Times New Roman" panose="02020603050405020304" pitchFamily="18" charset="0"/>
              </a:rPr>
              <a:t> 和 </a:t>
            </a:r>
            <a:r>
              <a:rPr lang="en" altLang="zh-CN" sz="1250" dirty="0" err="1">
                <a:solidFill>
                  <a:schemeClr val="bg2"/>
                </a:solidFill>
                <a:latin typeface="Times New Roman" panose="02020603050405020304" pitchFamily="18" charset="0"/>
                <a:cs typeface="Times New Roman" panose="02020603050405020304" pitchFamily="18" charset="0"/>
              </a:rPr>
              <a:t>Hudi</a:t>
            </a:r>
            <a:r>
              <a:rPr lang="zh-CN" altLang="en-US" sz="1250" dirty="0">
                <a:solidFill>
                  <a:schemeClr val="bg2"/>
                </a:solidFill>
                <a:latin typeface="Times New Roman" panose="02020603050405020304" pitchFamily="18" charset="0"/>
                <a:cs typeface="Times New Roman" panose="02020603050405020304" pitchFamily="18" charset="0"/>
              </a:rPr>
              <a:t> 通过变更日志提供流功能。但这不是真正的“流”。</a:t>
            </a:r>
            <a:r>
              <a:rPr lang="en" altLang="zh-CN" sz="1250" b="1" dirty="0">
                <a:solidFill>
                  <a:srgbClr val="00B0F0"/>
                </a:solidFill>
                <a:latin typeface="Times New Roman" panose="02020603050405020304" pitchFamily="18" charset="0"/>
                <a:cs typeface="Times New Roman" panose="02020603050405020304" pitchFamily="18" charset="0"/>
              </a:rPr>
              <a:t>Pravega</a:t>
            </a:r>
            <a:r>
              <a:rPr lang="zh-CN" altLang="en-US" sz="1250" b="1" dirty="0">
                <a:solidFill>
                  <a:srgbClr val="00B0F0"/>
                </a:solidFill>
                <a:latin typeface="Times New Roman" panose="02020603050405020304" pitchFamily="18" charset="0"/>
                <a:cs typeface="Times New Roman" panose="02020603050405020304" pitchFamily="18" charset="0"/>
              </a:rPr>
              <a:t> 是一个真正的流存储，能够以一致的方式灵活地存储不断变化的流数据，由控制器</a:t>
            </a:r>
            <a:r>
              <a:rPr lang="en-US" altLang="zh-C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Controller</a:t>
            </a:r>
            <a:r>
              <a:rPr lang="en-US" altLang="zh-CN" sz="1250" b="1" dirty="0">
                <a:solidFill>
                  <a:srgbClr val="00B0F0"/>
                </a:solidFill>
                <a:latin typeface="Times New Roman" panose="02020603050405020304" pitchFamily="18" charset="0"/>
                <a:cs typeface="Times New Roman" panose="02020603050405020304" pitchFamily="18" charset="0"/>
              </a:rPr>
              <a:t>)</a:t>
            </a:r>
            <a:r>
              <a:rPr lang="zh-CN" altLang="en-US" sz="1250" b="1" dirty="0">
                <a:solidFill>
                  <a:srgbClr val="00B0F0"/>
                </a:solidFill>
                <a:latin typeface="Times New Roman" panose="02020603050405020304" pitchFamily="18" charset="0"/>
                <a:cs typeface="Times New Roman" panose="02020603050405020304" pitchFamily="18" charset="0"/>
              </a:rPr>
              <a:t>实现控制面</a:t>
            </a:r>
            <a:r>
              <a:rPr lang="en-US" altLang="zh-C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Control Plane</a:t>
            </a:r>
            <a:r>
              <a:rPr lang="en-US" altLang="zh-CN" sz="1250" b="1" dirty="0">
                <a:solidFill>
                  <a:srgbClr val="00B0F0"/>
                </a:solidFill>
                <a:latin typeface="Times New Roman" panose="02020603050405020304" pitchFamily="18" charset="0"/>
                <a:cs typeface="Times New Roman" panose="02020603050405020304" pitchFamily="18" charset="0"/>
              </a:rPr>
              <a:t>) </a:t>
            </a:r>
            <a:r>
              <a:rPr lang="zh-CN" altLang="en-US" sz="1250" b="1" dirty="0">
                <a:solidFill>
                  <a:srgbClr val="00B0F0"/>
                </a:solidFill>
                <a:latin typeface="Times New Roman" panose="02020603050405020304" pitchFamily="18" charset="0"/>
                <a:cs typeface="Times New Roman" panose="02020603050405020304" pitchFamily="18" charset="0"/>
              </a:rPr>
              <a:t>，由段存储器</a:t>
            </a:r>
            <a:r>
              <a:rPr lang="en-US" altLang="zh-C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Segment Store</a:t>
            </a:r>
            <a:r>
              <a:rPr lang="en-US" altLang="zh-CN" sz="1250" b="1" dirty="0">
                <a:solidFill>
                  <a:srgbClr val="00B0F0"/>
                </a:solidFill>
                <a:latin typeface="Times New Roman" panose="02020603050405020304" pitchFamily="18" charset="0"/>
                <a:cs typeface="Times New Roman" panose="02020603050405020304" pitchFamily="18" charset="0"/>
              </a:rPr>
              <a:t>)</a:t>
            </a:r>
            <a:r>
              <a:rPr lang="zh-CN" altLang="en-US" sz="1250" b="1" dirty="0">
                <a:solidFill>
                  <a:srgbClr val="00B0F0"/>
                </a:solidFill>
                <a:latin typeface="Times New Roman" panose="02020603050405020304" pitchFamily="18" charset="0"/>
                <a:cs typeface="Times New Roman" panose="02020603050405020304" pitchFamily="18" charset="0"/>
              </a:rPr>
              <a:t>实现数据面</a:t>
            </a:r>
            <a:r>
              <a:rPr lang="en-US" altLang="zh-CN" sz="1250" b="1" dirty="0">
                <a:solidFill>
                  <a:srgbClr val="00B0F0"/>
                </a:solidFill>
                <a:latin typeface="Times New Roman" panose="02020603050405020304" pitchFamily="18" charset="0"/>
                <a:cs typeface="Times New Roman" panose="02020603050405020304" pitchFamily="18" charset="0"/>
              </a:rPr>
              <a:t>(</a:t>
            </a:r>
            <a:r>
              <a:rPr lang="en" altLang="zh-CN" sz="1250" b="1" dirty="0">
                <a:solidFill>
                  <a:srgbClr val="00B0F0"/>
                </a:solidFill>
                <a:latin typeface="Times New Roman" panose="02020603050405020304" pitchFamily="18" charset="0"/>
                <a:cs typeface="Times New Roman" panose="02020603050405020304" pitchFamily="18" charset="0"/>
              </a:rPr>
              <a:t>Data Plane</a:t>
            </a:r>
            <a:r>
              <a:rPr lang="en-US" altLang="zh-CN" sz="1250" b="1" dirty="0">
                <a:solidFill>
                  <a:srgbClr val="00B0F0"/>
                </a:solidFill>
                <a:latin typeface="Times New Roman" panose="02020603050405020304" pitchFamily="18" charset="0"/>
                <a:cs typeface="Times New Roman" panose="02020603050405020304" pitchFamily="18" charset="0"/>
              </a:rPr>
              <a:t>) </a:t>
            </a:r>
            <a:r>
              <a:rPr lang="zh-CN" altLang="en-US" sz="1250" b="1" dirty="0">
                <a:solidFill>
                  <a:srgbClr val="00B0F0"/>
                </a:solidFill>
                <a:latin typeface="Times New Roman" panose="02020603050405020304" pitchFamily="18" charset="0"/>
                <a:cs typeface="Times New Roman" panose="02020603050405020304" pitchFamily="18" charset="0"/>
              </a:rPr>
              <a:t>，通常以多实例的形式运行在集群中。</a:t>
            </a:r>
          </a:p>
          <a:p>
            <a:r>
              <a:rPr lang="zh-CN" altLang="en-US" sz="1250" dirty="0">
                <a:solidFill>
                  <a:schemeClr val="bg2"/>
                </a:solidFill>
                <a:latin typeface="Times New Roman" panose="02020603050405020304" pitchFamily="18" charset="0"/>
                <a:cs typeface="Times New Roman" panose="02020603050405020304" pitchFamily="18" charset="0"/>
              </a:rPr>
              <a:t>由此看到 </a:t>
            </a:r>
            <a:r>
              <a:rPr lang="en" altLang="zh-CN" sz="1250" dirty="0">
                <a:solidFill>
                  <a:schemeClr val="bg2"/>
                </a:solidFill>
                <a:latin typeface="Times New Roman" panose="02020603050405020304" pitchFamily="18" charset="0"/>
                <a:cs typeface="Times New Roman" panose="02020603050405020304" pitchFamily="18" charset="0"/>
              </a:rPr>
              <a:t>Pravega</a:t>
            </a:r>
            <a:r>
              <a:rPr lang="zh-CN" altLang="en-US" sz="1250" dirty="0">
                <a:solidFill>
                  <a:schemeClr val="bg2"/>
                </a:solidFill>
                <a:latin typeface="Times New Roman" panose="02020603050405020304" pitchFamily="18" charset="0"/>
                <a:cs typeface="Times New Roman" panose="02020603050405020304" pitchFamily="18" charset="0"/>
              </a:rPr>
              <a:t> 满足构建 </a:t>
            </a:r>
            <a:r>
              <a:rPr lang="en" altLang="zh-CN" sz="1250" dirty="0">
                <a:solidFill>
                  <a:schemeClr val="bg2"/>
                </a:solidFill>
                <a:latin typeface="Times New Roman" panose="02020603050405020304" pitchFamily="18" charset="0"/>
                <a:cs typeface="Times New Roman" panose="02020603050405020304" pitchFamily="18" charset="0"/>
              </a:rPr>
              <a:t>Lakehouse</a:t>
            </a:r>
            <a:r>
              <a:rPr lang="zh-CN" altLang="en-US" sz="1250" dirty="0">
                <a:solidFill>
                  <a:schemeClr val="bg2"/>
                </a:solidFill>
                <a:latin typeface="Times New Roman" panose="02020603050405020304" pitchFamily="18" charset="0"/>
                <a:cs typeface="Times New Roman" panose="02020603050405020304" pitchFamily="18" charset="0"/>
              </a:rPr>
              <a:t> 的所有条件。此项目旨在使用 </a:t>
            </a:r>
            <a:r>
              <a:rPr lang="en" altLang="zh-CN" sz="1250" dirty="0">
                <a:solidFill>
                  <a:schemeClr val="bg2"/>
                </a:solidFill>
                <a:latin typeface="Times New Roman" panose="02020603050405020304" pitchFamily="18" charset="0"/>
                <a:cs typeface="Times New Roman" panose="02020603050405020304" pitchFamily="18" charset="0"/>
              </a:rPr>
              <a:t>Pravega</a:t>
            </a:r>
            <a:r>
              <a:rPr lang="zh-CN" altLang="en-US" sz="1250" dirty="0">
                <a:solidFill>
                  <a:schemeClr val="bg2"/>
                </a:solidFill>
                <a:latin typeface="Times New Roman" panose="02020603050405020304" pitchFamily="18" charset="0"/>
                <a:cs typeface="Times New Roman" panose="02020603050405020304" pitchFamily="18" charset="0"/>
              </a:rPr>
              <a:t> 作为新 </a:t>
            </a:r>
            <a:r>
              <a:rPr lang="en" altLang="zh-CN" sz="1250" dirty="0">
                <a:solidFill>
                  <a:schemeClr val="bg2"/>
                </a:solidFill>
                <a:latin typeface="Times New Roman" panose="02020603050405020304" pitchFamily="18" charset="0"/>
                <a:cs typeface="Times New Roman" panose="02020603050405020304" pitchFamily="18" charset="0"/>
              </a:rPr>
              <a:t>Lakehouse</a:t>
            </a:r>
            <a:r>
              <a:rPr lang="zh-CN" altLang="en-US" sz="1250" dirty="0">
                <a:solidFill>
                  <a:schemeClr val="bg2"/>
                </a:solidFill>
                <a:latin typeface="Times New Roman" panose="02020603050405020304" pitchFamily="18" charset="0"/>
                <a:cs typeface="Times New Roman" panose="02020603050405020304" pitchFamily="18" charset="0"/>
              </a:rPr>
              <a:t> 的存储方案</a:t>
            </a:r>
            <a:r>
              <a:rPr lang="zh-CN" altLang="en" sz="1250" dirty="0">
                <a:solidFill>
                  <a:schemeClr val="bg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67961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F87E-9C8D-4970-9927-239E13C53DB6}"/>
              </a:ext>
            </a:extLst>
          </p:cNvPr>
          <p:cNvSpPr>
            <a:spLocks noGrp="1"/>
          </p:cNvSpPr>
          <p:nvPr>
            <p:ph type="title"/>
          </p:nvPr>
        </p:nvSpPr>
        <p:spPr>
          <a:xfrm>
            <a:off x="381000" y="536956"/>
            <a:ext cx="11430000" cy="517001"/>
          </a:xfrm>
        </p:spPr>
        <p:txBody>
          <a:bodyPr/>
          <a:lstStyle/>
          <a:p>
            <a:r>
              <a:rPr lang="zh-CN" altLang="en-US" dirty="0"/>
              <a:t>创新项目的价值</a:t>
            </a:r>
            <a:endParaRPr lang="en-US" dirty="0"/>
          </a:p>
        </p:txBody>
      </p:sp>
      <p:sp>
        <p:nvSpPr>
          <p:cNvPr id="5" name="TextBox 3">
            <a:extLst>
              <a:ext uri="{FF2B5EF4-FFF2-40B4-BE49-F238E27FC236}">
                <a16:creationId xmlns:a16="http://schemas.microsoft.com/office/drawing/2014/main" id="{298E04A6-5D6D-4048-96FD-0A93E21E2CDC}"/>
              </a:ext>
            </a:extLst>
          </p:cNvPr>
          <p:cNvSpPr txBox="1"/>
          <p:nvPr/>
        </p:nvSpPr>
        <p:spPr>
          <a:xfrm>
            <a:off x="6096000" y="1627451"/>
            <a:ext cx="5855417" cy="4493539"/>
          </a:xfrm>
          <a:prstGeom prst="rect">
            <a:avLst/>
          </a:prstGeom>
          <a:noFill/>
        </p:spPr>
        <p:txBody>
          <a:bodyPr wrap="square" lIns="0" tIns="0" rIns="0" bIns="0" rtlCol="0">
            <a:spAutoFit/>
          </a:bodyPr>
          <a:lstStyle/>
          <a:p>
            <a:pPr marL="457200" indent="-457200">
              <a:buFont typeface="Arial" panose="020B0604020202020204" pitchFamily="34" charset="0"/>
              <a:buChar char="•"/>
            </a:pPr>
            <a:r>
              <a:rPr lang="en" altLang="zh-CN" sz="3200" b="1" dirty="0">
                <a:solidFill>
                  <a:schemeClr val="bg2"/>
                </a:solidFill>
                <a:latin typeface="Times New Roman" panose="02020603050405020304" pitchFamily="18" charset="0"/>
                <a:cs typeface="Times New Roman" panose="02020603050405020304" pitchFamily="18" charset="0"/>
              </a:rPr>
              <a:t>Pravega</a:t>
            </a:r>
            <a:r>
              <a:rPr lang="zh-CN" altLang="en-US" sz="3200" b="1" dirty="0">
                <a:solidFill>
                  <a:schemeClr val="bg2"/>
                </a:solidFill>
                <a:latin typeface="Times New Roman" panose="02020603050405020304" pitchFamily="18" charset="0"/>
                <a:cs typeface="Times New Roman" panose="02020603050405020304" pitchFamily="18" charset="0"/>
              </a:rPr>
              <a:t> 存储布局</a:t>
            </a:r>
            <a:endParaRPr lang="en-US" altLang="zh-CN" sz="3200" b="1" dirty="0">
              <a:solidFill>
                <a:schemeClr val="bg2"/>
              </a:solidFill>
              <a:latin typeface="Times New Roman" panose="02020603050405020304" pitchFamily="18" charset="0"/>
              <a:cs typeface="Times New Roman" panose="02020603050405020304" pitchFamily="18" charset="0"/>
            </a:endParaRPr>
          </a:p>
          <a:p>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采用如图所示的分层存储架构，事件存储在低延迟</a:t>
            </a:r>
            <a:r>
              <a:rPr lang="en-US" altLang="zh-C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高 </a:t>
            </a:r>
            <a:r>
              <a:rPr lang="en" altLang="zh-CN" sz="1300" dirty="0">
                <a:solidFill>
                  <a:schemeClr val="bg2"/>
                </a:solidFill>
                <a:latin typeface="Times New Roman" panose="02020603050405020304" pitchFamily="18" charset="0"/>
                <a:cs typeface="Times New Roman" panose="02020603050405020304" pitchFamily="18" charset="0"/>
              </a:rPr>
              <a:t>IOPS </a:t>
            </a:r>
            <a:r>
              <a:rPr lang="zh-CN" altLang="en-US" sz="1300" dirty="0">
                <a:solidFill>
                  <a:schemeClr val="bg2"/>
                </a:solidFill>
                <a:latin typeface="Times New Roman" panose="02020603050405020304" pitchFamily="18" charset="0"/>
                <a:cs typeface="Times New Roman" panose="02020603050405020304" pitchFamily="18" charset="0"/>
              </a:rPr>
              <a:t>的存储</a:t>
            </a:r>
            <a:r>
              <a:rPr lang="en-US" altLang="zh-C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第一层存储</a:t>
            </a:r>
            <a:r>
              <a:rPr lang="en-US" altLang="zh-C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和更高吞吐量的存储</a:t>
            </a:r>
            <a:r>
              <a:rPr lang="en-US" altLang="zh-C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第二层存储</a:t>
            </a:r>
            <a:r>
              <a:rPr lang="en-US" altLang="zh-C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中。上层使用 </a:t>
            </a:r>
            <a:r>
              <a:rPr lang="en" altLang="zh-CN" sz="1300" dirty="0">
                <a:solidFill>
                  <a:schemeClr val="bg2"/>
                </a:solidFill>
                <a:latin typeface="Times New Roman" panose="02020603050405020304" pitchFamily="18" charset="0"/>
                <a:cs typeface="Times New Roman" panose="02020603050405020304" pitchFamily="18" charset="0"/>
              </a:rPr>
              <a:t>Apache </a:t>
            </a:r>
            <a:r>
              <a:rPr lang="en" altLang="zh-CN" sz="1300" dirty="0" err="1">
                <a:solidFill>
                  <a:schemeClr val="bg2"/>
                </a:solidFill>
                <a:latin typeface="Times New Roman" panose="02020603050405020304" pitchFamily="18" charset="0"/>
                <a:cs typeface="Times New Roman" panose="02020603050405020304" pitchFamily="18" charset="0"/>
              </a:rPr>
              <a:t>ZooKeeper</a:t>
            </a:r>
            <a:r>
              <a:rPr lang="en" altLang="zh-CN" sz="1300" dirty="0">
                <a:solidFill>
                  <a:schemeClr val="bg2"/>
                </a:solidFill>
                <a:latin typeface="Times New Roman" panose="02020603050405020304" pitchFamily="18" charset="0"/>
                <a:cs typeface="Times New Roman" panose="02020603050405020304" pitchFamily="18" charset="0"/>
              </a:rPr>
              <a:t> </a:t>
            </a:r>
            <a:r>
              <a:rPr lang="zh-CN" altLang="en-US" sz="1300" dirty="0">
                <a:solidFill>
                  <a:schemeClr val="bg2"/>
                </a:solidFill>
                <a:latin typeface="Times New Roman" panose="02020603050405020304" pitchFamily="18" charset="0"/>
                <a:cs typeface="Times New Roman" panose="02020603050405020304" pitchFamily="18" charset="0"/>
              </a:rPr>
              <a:t>作为分布式协调器，并且提供统一的 </a:t>
            </a:r>
            <a:r>
              <a:rPr lang="en" altLang="zh-CN" sz="1300" dirty="0">
                <a:solidFill>
                  <a:schemeClr val="bg2"/>
                </a:solidFill>
                <a:latin typeface="Times New Roman" panose="02020603050405020304" pitchFamily="18" charset="0"/>
                <a:cs typeface="Times New Roman" panose="02020603050405020304" pitchFamily="18" charset="0"/>
              </a:rPr>
              <a:t>Stream </a:t>
            </a:r>
            <a:r>
              <a:rPr lang="zh-CN" altLang="en-US" sz="1300" dirty="0">
                <a:solidFill>
                  <a:schemeClr val="bg2"/>
                </a:solidFill>
                <a:latin typeface="Times New Roman" panose="02020603050405020304" pitchFamily="18" charset="0"/>
                <a:cs typeface="Times New Roman" panose="02020603050405020304" pitchFamily="18" charset="0"/>
              </a:rPr>
              <a:t>抽象。</a:t>
            </a:r>
            <a:endParaRPr lang="en-US" altLang="zh-CN" sz="1300" dirty="0">
              <a:solidFill>
                <a:schemeClr val="bg2"/>
              </a:solidFill>
              <a:latin typeface="Times New Roman" panose="02020603050405020304" pitchFamily="18" charset="0"/>
              <a:cs typeface="Times New Roman" panose="02020603050405020304" pitchFamily="18" charset="0"/>
            </a:endParaRPr>
          </a:p>
          <a:p>
            <a:r>
              <a:rPr lang="zh-CN" altLang="en-US" sz="1300" dirty="0">
                <a:solidFill>
                  <a:schemeClr val="bg2"/>
                </a:solidFill>
                <a:latin typeface="Times New Roman" panose="02020603050405020304" pitchFamily="18" charset="0"/>
                <a:cs typeface="Times New Roman" panose="02020603050405020304" pitchFamily="18" charset="0"/>
              </a:rPr>
              <a:t>段存储器</a:t>
            </a:r>
            <a:r>
              <a:rPr lang="en-US" altLang="zh-CN" sz="1300" dirty="0">
                <a:solidFill>
                  <a:schemeClr val="bg2"/>
                </a:solidFill>
                <a:latin typeface="Times New Roman" panose="02020603050405020304" pitchFamily="18" charset="0"/>
                <a:cs typeface="Times New Roman" panose="02020603050405020304" pitchFamily="18" charset="0"/>
              </a:rPr>
              <a:t>(</a:t>
            </a:r>
            <a:r>
              <a:rPr lang="en" altLang="zh-CN" sz="1300" dirty="0">
                <a:solidFill>
                  <a:schemeClr val="bg2"/>
                </a:solidFill>
                <a:latin typeface="Times New Roman" panose="02020603050405020304" pitchFamily="18" charset="0"/>
                <a:cs typeface="Times New Roman" panose="02020603050405020304" pitchFamily="18" charset="0"/>
              </a:rPr>
              <a:t>Segment Store</a:t>
            </a:r>
            <a:r>
              <a:rPr lang="en-US" altLang="zh-C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提供 </a:t>
            </a:r>
            <a:r>
              <a:rPr lang="en" altLang="zh-CN" sz="1300" dirty="0">
                <a:solidFill>
                  <a:schemeClr val="bg2"/>
                </a:solidFill>
                <a:latin typeface="Times New Roman" panose="02020603050405020304" pitchFamily="18" charset="0"/>
                <a:cs typeface="Times New Roman" panose="02020603050405020304" pitchFamily="18" charset="0"/>
              </a:rPr>
              <a:t>Segment </a:t>
            </a:r>
            <a:r>
              <a:rPr lang="zh-CN" altLang="en-US" sz="1300" dirty="0">
                <a:solidFill>
                  <a:schemeClr val="bg2"/>
                </a:solidFill>
                <a:latin typeface="Times New Roman" panose="02020603050405020304" pitchFamily="18" charset="0"/>
                <a:cs typeface="Times New Roman" panose="02020603050405020304" pitchFamily="18" charset="0"/>
              </a:rPr>
              <a:t>的管理入口，实现 </a:t>
            </a:r>
            <a:r>
              <a:rPr lang="en" altLang="zh-CN" sz="1300" dirty="0">
                <a:solidFill>
                  <a:schemeClr val="bg2"/>
                </a:solidFill>
                <a:latin typeface="Times New Roman" panose="02020603050405020304" pitchFamily="18" charset="0"/>
                <a:cs typeface="Times New Roman" panose="02020603050405020304" pitchFamily="18" charset="0"/>
              </a:rPr>
              <a:t>Segment </a:t>
            </a:r>
            <a:r>
              <a:rPr lang="zh-CN" altLang="en-US" sz="1300" dirty="0">
                <a:solidFill>
                  <a:schemeClr val="bg2"/>
                </a:solidFill>
                <a:latin typeface="Times New Roman" panose="02020603050405020304" pitchFamily="18" charset="0"/>
                <a:cs typeface="Times New Roman" panose="02020603050405020304" pitchFamily="18" charset="0"/>
              </a:rPr>
              <a:t>的创建，删除，修改和读取功能。数据被存储在一层和二层存储上，由段存储器负责数据的存储和降层操作，其中一层存储由低延迟的 </a:t>
            </a:r>
            <a:r>
              <a:rPr lang="en" altLang="zh-CN" sz="1300" dirty="0">
                <a:solidFill>
                  <a:schemeClr val="bg2"/>
                </a:solidFill>
                <a:latin typeface="Times New Roman" panose="02020603050405020304" pitchFamily="18" charset="0"/>
                <a:cs typeface="Times New Roman" panose="02020603050405020304" pitchFamily="18" charset="0"/>
              </a:rPr>
              <a:t>Bookkeeper </a:t>
            </a:r>
            <a:r>
              <a:rPr lang="zh-CN" altLang="en-US" sz="1300" dirty="0">
                <a:solidFill>
                  <a:schemeClr val="bg2"/>
                </a:solidFill>
                <a:latin typeface="Times New Roman" panose="02020603050405020304" pitchFamily="18" charset="0"/>
                <a:cs typeface="Times New Roman" panose="02020603050405020304" pitchFamily="18" charset="0"/>
              </a:rPr>
              <a:t>担任，通常运行于集群的内部；二层存储由容量大且成本较低存储的担任，一般运行于集群的外部。</a:t>
            </a:r>
            <a:r>
              <a:rPr lang="en-US" altLang="zh-CN" sz="1300" dirty="0">
                <a:solidFill>
                  <a:schemeClr val="bg2"/>
                </a:solidFill>
                <a:latin typeface="Times New Roman" panose="02020603050405020304" pitchFamily="18" charset="0"/>
                <a:cs typeface="Times New Roman" panose="02020603050405020304" pitchFamily="18" charset="0"/>
              </a:rPr>
              <a:t>S</a:t>
            </a:r>
            <a:r>
              <a:rPr lang="en" altLang="zh-CN" sz="1300" dirty="0" err="1">
                <a:solidFill>
                  <a:schemeClr val="bg2"/>
                </a:solidFill>
                <a:latin typeface="Times New Roman" panose="02020603050405020304" pitchFamily="18" charset="0"/>
                <a:cs typeface="Times New Roman" panose="02020603050405020304" pitchFamily="18" charset="0"/>
              </a:rPr>
              <a:t>egment</a:t>
            </a:r>
            <a:r>
              <a:rPr lang="en" altLang="zh-CN" sz="1300" dirty="0">
                <a:solidFill>
                  <a:schemeClr val="bg2"/>
                </a:solidFill>
                <a:latin typeface="Times New Roman" panose="02020603050405020304" pitchFamily="18" charset="0"/>
                <a:cs typeface="Times New Roman" panose="02020603050405020304" pitchFamily="18" charset="0"/>
              </a:rPr>
              <a:t> Store </a:t>
            </a:r>
            <a:r>
              <a:rPr lang="zh-CN" altLang="en-US" sz="1300" dirty="0">
                <a:solidFill>
                  <a:schemeClr val="bg2"/>
                </a:solidFill>
                <a:latin typeface="Times New Roman" panose="02020603050405020304" pitchFamily="18" charset="0"/>
                <a:cs typeface="Times New Roman" panose="02020603050405020304" pitchFamily="18" charset="0"/>
              </a:rPr>
              <a:t>提供读写 </a:t>
            </a:r>
            <a:r>
              <a:rPr lang="en" altLang="zh-CN" sz="1300" dirty="0">
                <a:solidFill>
                  <a:schemeClr val="bg2"/>
                </a:solidFill>
                <a:latin typeface="Times New Roman" panose="02020603050405020304" pitchFamily="18" charset="0"/>
                <a:cs typeface="Times New Roman" panose="02020603050405020304" pitchFamily="18" charset="0"/>
              </a:rPr>
              <a:t>Stream </a:t>
            </a:r>
            <a:r>
              <a:rPr lang="zh-CN" altLang="en-US" sz="1300" dirty="0">
                <a:solidFill>
                  <a:schemeClr val="bg2"/>
                </a:solidFill>
                <a:latin typeface="Times New Roman" panose="02020603050405020304" pitchFamily="18" charset="0"/>
                <a:cs typeface="Times New Roman" panose="02020603050405020304" pitchFamily="18" charset="0"/>
              </a:rPr>
              <a:t>内数据的 </a:t>
            </a:r>
            <a:r>
              <a:rPr lang="en" altLang="zh-CN" sz="1300" dirty="0">
                <a:solidFill>
                  <a:schemeClr val="bg2"/>
                </a:solidFill>
                <a:latin typeface="Times New Roman" panose="02020603050405020304" pitchFamily="18" charset="0"/>
                <a:cs typeface="Times New Roman" panose="02020603050405020304" pitchFamily="18" charset="0"/>
              </a:rPr>
              <a:t>API</a:t>
            </a:r>
            <a:r>
              <a:rPr lang="zh-CN" altLang="e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在 </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里面，数据是分层存储的：</a:t>
            </a:r>
          </a:p>
          <a:p>
            <a:pPr marL="285750" indent="-285750">
              <a:buFont typeface="Arial" panose="020B0604020202020204" pitchFamily="34" charset="0"/>
              <a:buChar char="•"/>
            </a:pPr>
            <a:r>
              <a:rPr lang="en" altLang="zh-CN" sz="1300" dirty="0">
                <a:solidFill>
                  <a:schemeClr val="bg2"/>
                </a:solidFill>
                <a:latin typeface="Times New Roman" panose="02020603050405020304" pitchFamily="18" charset="0"/>
                <a:cs typeface="Times New Roman" panose="02020603050405020304" pitchFamily="18" charset="0"/>
              </a:rPr>
              <a:t>Tier </a:t>
            </a:r>
            <a:r>
              <a:rPr lang="en-US" altLang="zh-CN" sz="1300" dirty="0">
                <a:solidFill>
                  <a:schemeClr val="bg2"/>
                </a:solidFill>
                <a:latin typeface="Times New Roman" panose="02020603050405020304" pitchFamily="18" charset="0"/>
                <a:cs typeface="Times New Roman" panose="02020603050405020304" pitchFamily="18" charset="0"/>
              </a:rPr>
              <a:t>1</a:t>
            </a:r>
            <a:r>
              <a:rPr lang="zh-CN" altLang="en-US" sz="1300" dirty="0">
                <a:solidFill>
                  <a:schemeClr val="bg2"/>
                </a:solidFill>
                <a:latin typeface="Times New Roman" panose="02020603050405020304" pitchFamily="18" charset="0"/>
                <a:cs typeface="Times New Roman" panose="02020603050405020304" pitchFamily="18" charset="0"/>
              </a:rPr>
              <a:t> 存储</a:t>
            </a:r>
          </a:p>
          <a:p>
            <a:r>
              <a:rPr lang="en" altLang="zh-CN" sz="1300" dirty="0">
                <a:solidFill>
                  <a:schemeClr val="bg2"/>
                </a:solidFill>
                <a:latin typeface="Times New Roman" panose="02020603050405020304" pitchFamily="18" charset="0"/>
                <a:cs typeface="Times New Roman" panose="02020603050405020304" pitchFamily="18" charset="0"/>
              </a:rPr>
              <a:t>Tier1 </a:t>
            </a:r>
            <a:r>
              <a:rPr lang="zh-CN" altLang="en-US" sz="1300" dirty="0">
                <a:solidFill>
                  <a:schemeClr val="bg2"/>
                </a:solidFill>
                <a:latin typeface="Times New Roman" panose="02020603050405020304" pitchFamily="18" charset="0"/>
                <a:cs typeface="Times New Roman" panose="02020603050405020304" pitchFamily="18" charset="0"/>
              </a:rPr>
              <a:t>存储通常部署在 </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集群内部，主要是提供对低延迟，短期的热数据的存储，用于快速持久地将数据写入 </a:t>
            </a:r>
            <a:r>
              <a:rPr lang="en" altLang="zh-CN" sz="1300" dirty="0">
                <a:solidFill>
                  <a:schemeClr val="bg2"/>
                </a:solidFill>
                <a:latin typeface="Times New Roman" panose="02020603050405020304" pitchFamily="18" charset="0"/>
                <a:cs typeface="Times New Roman" panose="02020603050405020304" pitchFamily="18" charset="0"/>
              </a:rPr>
              <a:t>Stream</a:t>
            </a:r>
            <a:r>
              <a:rPr lang="zh-CN" altLang="en" sz="1300" dirty="0">
                <a:solidFill>
                  <a:schemeClr val="bg2"/>
                </a:solidFill>
                <a:latin typeface="Times New Roman" panose="02020603050405020304" pitchFamily="18" charset="0"/>
                <a:cs typeface="Times New Roman" panose="02020603050405020304" pitchFamily="18" charset="0"/>
              </a:rPr>
              <a:t>，</a:t>
            </a:r>
            <a:r>
              <a:rPr lang="zh-CN" altLang="en-US" sz="1300" dirty="0">
                <a:solidFill>
                  <a:schemeClr val="bg2"/>
                </a:solidFill>
                <a:latin typeface="Times New Roman" panose="02020603050405020304" pitchFamily="18" charset="0"/>
                <a:cs typeface="Times New Roman" panose="02020603050405020304" pitchFamily="18" charset="0"/>
              </a:rPr>
              <a:t>并确保从 </a:t>
            </a:r>
            <a:r>
              <a:rPr lang="en" altLang="zh-CN" sz="1300" dirty="0">
                <a:solidFill>
                  <a:schemeClr val="bg2"/>
                </a:solidFill>
                <a:latin typeface="Times New Roman" panose="02020603050405020304" pitchFamily="18" charset="0"/>
                <a:cs typeface="Times New Roman" panose="02020603050405020304" pitchFamily="18" charset="0"/>
              </a:rPr>
              <a:t>Stream </a:t>
            </a:r>
            <a:r>
              <a:rPr lang="zh-CN" altLang="en-US" sz="1300" dirty="0">
                <a:solidFill>
                  <a:schemeClr val="bg2"/>
                </a:solidFill>
                <a:latin typeface="Times New Roman" panose="02020603050405020304" pitchFamily="18" charset="0"/>
                <a:cs typeface="Times New Roman" panose="02020603050405020304" pitchFamily="18" charset="0"/>
              </a:rPr>
              <a:t>的尾读尽可能快。在每个 </a:t>
            </a:r>
            <a:r>
              <a:rPr lang="en" altLang="zh-CN" sz="1300" dirty="0">
                <a:solidFill>
                  <a:schemeClr val="bg2"/>
                </a:solidFill>
                <a:latin typeface="Times New Roman" panose="02020603050405020304" pitchFamily="18" charset="0"/>
                <a:cs typeface="Times New Roman" panose="02020603050405020304" pitchFamily="18" charset="0"/>
              </a:rPr>
              <a:t>Segment Store </a:t>
            </a:r>
            <a:r>
              <a:rPr lang="zh-CN" altLang="en-US" sz="1300" dirty="0">
                <a:solidFill>
                  <a:schemeClr val="bg2"/>
                </a:solidFill>
                <a:latin typeface="Times New Roman" panose="02020603050405020304" pitchFamily="18" charset="0"/>
                <a:cs typeface="Times New Roman" panose="02020603050405020304" pitchFamily="18" charset="0"/>
              </a:rPr>
              <a:t>结点都有 </a:t>
            </a:r>
            <a:r>
              <a:rPr lang="en" altLang="zh-CN" sz="1300" dirty="0">
                <a:solidFill>
                  <a:schemeClr val="bg2"/>
                </a:solidFill>
                <a:latin typeface="Times New Roman" panose="02020603050405020304" pitchFamily="18" charset="0"/>
                <a:cs typeface="Times New Roman" panose="02020603050405020304" pitchFamily="18" charset="0"/>
              </a:rPr>
              <a:t>Cache </a:t>
            </a:r>
            <a:r>
              <a:rPr lang="zh-CN" altLang="en-US" sz="1300" dirty="0">
                <a:solidFill>
                  <a:schemeClr val="bg2"/>
                </a:solidFill>
                <a:latin typeface="Times New Roman" panose="02020603050405020304" pitchFamily="18" charset="0"/>
                <a:cs typeface="Times New Roman" panose="02020603050405020304" pitchFamily="18" charset="0"/>
              </a:rPr>
              <a:t>以加快数据读取速率，</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使用 </a:t>
            </a:r>
            <a:r>
              <a:rPr lang="en" altLang="zh-CN" sz="1300" dirty="0">
                <a:solidFill>
                  <a:schemeClr val="bg2"/>
                </a:solidFill>
                <a:latin typeface="Times New Roman" panose="02020603050405020304" pitchFamily="18" charset="0"/>
                <a:cs typeface="Times New Roman" panose="02020603050405020304" pitchFamily="18" charset="0"/>
              </a:rPr>
              <a:t>Apache </a:t>
            </a:r>
            <a:r>
              <a:rPr lang="en" altLang="zh-CN" sz="1300" dirty="0" err="1">
                <a:solidFill>
                  <a:schemeClr val="bg2"/>
                </a:solidFill>
                <a:latin typeface="Times New Roman" panose="02020603050405020304" pitchFamily="18" charset="0"/>
                <a:cs typeface="Times New Roman" panose="02020603050405020304" pitchFamily="18" charset="0"/>
              </a:rPr>
              <a:t>Bookeeper</a:t>
            </a:r>
            <a:r>
              <a:rPr lang="en" altLang="zh-CN" sz="1300" dirty="0">
                <a:solidFill>
                  <a:schemeClr val="bg2"/>
                </a:solidFill>
                <a:latin typeface="Times New Roman" panose="02020603050405020304" pitchFamily="18" charset="0"/>
                <a:cs typeface="Times New Roman" panose="02020603050405020304" pitchFamily="18" charset="0"/>
              </a:rPr>
              <a:t> </a:t>
            </a:r>
            <a:r>
              <a:rPr lang="zh-CN" altLang="en-US" sz="1300" dirty="0">
                <a:solidFill>
                  <a:schemeClr val="bg2"/>
                </a:solidFill>
                <a:latin typeface="Times New Roman" panose="02020603050405020304" pitchFamily="18" charset="0"/>
                <a:cs typeface="Times New Roman" panose="02020603050405020304" pitchFamily="18" charset="0"/>
              </a:rPr>
              <a:t>来保证低延迟的日志存储服务。</a:t>
            </a:r>
            <a:endParaRPr lang="en-US" altLang="zh-CN" sz="1300" dirty="0">
              <a:solidFill>
                <a:schemeClr val="bg2"/>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 altLang="zh-CN" sz="1300" dirty="0">
                <a:solidFill>
                  <a:schemeClr val="bg2"/>
                </a:solidFill>
                <a:latin typeface="Times New Roman" panose="02020603050405020304" pitchFamily="18" charset="0"/>
                <a:cs typeface="Times New Roman" panose="02020603050405020304" pitchFamily="18" charset="0"/>
              </a:rPr>
              <a:t>Long-Term </a:t>
            </a:r>
            <a:r>
              <a:rPr lang="zh-CN" altLang="en-US" sz="1300" dirty="0">
                <a:solidFill>
                  <a:schemeClr val="bg2"/>
                </a:solidFill>
                <a:latin typeface="Times New Roman" panose="02020603050405020304" pitchFamily="18" charset="0"/>
                <a:cs typeface="Times New Roman" panose="02020603050405020304" pitchFamily="18" charset="0"/>
              </a:rPr>
              <a:t>存储</a:t>
            </a:r>
          </a:p>
          <a:p>
            <a:r>
              <a:rPr lang="en" altLang="zh-CN" sz="1300" dirty="0">
                <a:solidFill>
                  <a:schemeClr val="bg2"/>
                </a:solidFill>
                <a:latin typeface="Times New Roman" panose="02020603050405020304" pitchFamily="18" charset="0"/>
                <a:cs typeface="Times New Roman" panose="02020603050405020304" pitchFamily="18" charset="0"/>
              </a:rPr>
              <a:t>Long-Term </a:t>
            </a:r>
            <a:r>
              <a:rPr lang="zh-CN" altLang="en-US" sz="1300" dirty="0">
                <a:solidFill>
                  <a:schemeClr val="bg2"/>
                </a:solidFill>
                <a:latin typeface="Times New Roman" panose="02020603050405020304" pitchFamily="18" charset="0"/>
                <a:cs typeface="Times New Roman" panose="02020603050405020304" pitchFamily="18" charset="0"/>
              </a:rPr>
              <a:t>存储通常部署在 </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集群外部，主要是提供对流数据的长期存储，即冷数据的存储，选用高度可扩展，高吞吐量的云存储，目前 </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支持 </a:t>
            </a:r>
            <a:r>
              <a:rPr lang="en" altLang="zh-CN" sz="1300" dirty="0">
                <a:solidFill>
                  <a:schemeClr val="bg2"/>
                </a:solidFill>
                <a:latin typeface="Times New Roman" panose="02020603050405020304" pitchFamily="18" charset="0"/>
                <a:cs typeface="Times New Roman" panose="02020603050405020304" pitchFamily="18" charset="0"/>
              </a:rPr>
              <a:t>HDFS</a:t>
            </a:r>
            <a:r>
              <a:rPr lang="zh-CN" altLang="en" sz="1300" dirty="0">
                <a:solidFill>
                  <a:schemeClr val="bg2"/>
                </a:solidFill>
                <a:latin typeface="Times New Roman" panose="02020603050405020304" pitchFamily="18" charset="0"/>
                <a:cs typeface="Times New Roman" panose="02020603050405020304" pitchFamily="18" charset="0"/>
              </a:rPr>
              <a:t>，</a:t>
            </a:r>
            <a:r>
              <a:rPr lang="en" altLang="zh-CN" sz="1300" dirty="0">
                <a:solidFill>
                  <a:schemeClr val="bg2"/>
                </a:solidFill>
                <a:latin typeface="Times New Roman" panose="02020603050405020304" pitchFamily="18" charset="0"/>
                <a:cs typeface="Times New Roman" panose="02020603050405020304" pitchFamily="18" charset="0"/>
              </a:rPr>
              <a:t>NFS </a:t>
            </a:r>
            <a:r>
              <a:rPr lang="zh-CN" altLang="en-US" sz="1300" dirty="0">
                <a:solidFill>
                  <a:schemeClr val="bg2"/>
                </a:solidFill>
                <a:latin typeface="Times New Roman" panose="02020603050405020304" pitchFamily="18" charset="0"/>
                <a:cs typeface="Times New Roman" panose="02020603050405020304" pitchFamily="18" charset="0"/>
              </a:rPr>
              <a:t>和 </a:t>
            </a:r>
            <a:r>
              <a:rPr lang="en" altLang="zh-CN" sz="1300" dirty="0">
                <a:solidFill>
                  <a:schemeClr val="bg2"/>
                </a:solidFill>
                <a:latin typeface="Times New Roman" panose="02020603050405020304" pitchFamily="18" charset="0"/>
                <a:cs typeface="Times New Roman" panose="02020603050405020304" pitchFamily="18" charset="0"/>
              </a:rPr>
              <a:t>S3 </a:t>
            </a:r>
            <a:r>
              <a:rPr lang="zh-CN" altLang="en-US" sz="1300" dirty="0">
                <a:solidFill>
                  <a:schemeClr val="bg2"/>
                </a:solidFill>
                <a:latin typeface="Times New Roman" panose="02020603050405020304" pitchFamily="18" charset="0"/>
                <a:cs typeface="Times New Roman" panose="02020603050405020304" pitchFamily="18" charset="0"/>
              </a:rPr>
              <a:t>协议的二级存储。</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提供了两种数据降层 </a:t>
            </a:r>
            <a:r>
              <a:rPr lang="en-US" altLang="zh-CN" sz="1300" dirty="0">
                <a:solidFill>
                  <a:schemeClr val="bg2"/>
                </a:solidFill>
                <a:latin typeface="Times New Roman" panose="02020603050405020304" pitchFamily="18" charset="0"/>
                <a:cs typeface="Times New Roman" panose="02020603050405020304" pitchFamily="18" charset="0"/>
              </a:rPr>
              <a:t>(</a:t>
            </a:r>
            <a:r>
              <a:rPr lang="en" altLang="zh-CN" sz="1300" dirty="0">
                <a:solidFill>
                  <a:schemeClr val="bg2"/>
                </a:solidFill>
                <a:latin typeface="Times New Roman" panose="02020603050405020304" pitchFamily="18" charset="0"/>
                <a:cs typeface="Times New Roman" panose="02020603050405020304" pitchFamily="18" charset="0"/>
              </a:rPr>
              <a:t>Retention) </a:t>
            </a:r>
            <a:r>
              <a:rPr lang="zh-CN" altLang="en-US" sz="1300" dirty="0">
                <a:solidFill>
                  <a:schemeClr val="bg2"/>
                </a:solidFill>
                <a:latin typeface="Times New Roman" panose="02020603050405020304" pitchFamily="18" charset="0"/>
                <a:cs typeface="Times New Roman" panose="02020603050405020304" pitchFamily="18" charset="0"/>
              </a:rPr>
              <a:t>的模式，一种基于数据在 </a:t>
            </a:r>
            <a:r>
              <a:rPr lang="en" altLang="zh-CN" sz="1300" dirty="0">
                <a:solidFill>
                  <a:schemeClr val="bg2"/>
                </a:solidFill>
                <a:latin typeface="Times New Roman" panose="02020603050405020304" pitchFamily="18" charset="0"/>
                <a:cs typeface="Times New Roman" panose="02020603050405020304" pitchFamily="18" charset="0"/>
              </a:rPr>
              <a:t>Stream </a:t>
            </a:r>
            <a:r>
              <a:rPr lang="zh-CN" altLang="en-US" sz="1300" dirty="0">
                <a:solidFill>
                  <a:schemeClr val="bg2"/>
                </a:solidFill>
                <a:latin typeface="Times New Roman" panose="02020603050405020304" pitchFamily="18" charset="0"/>
                <a:cs typeface="Times New Roman" panose="02020603050405020304" pitchFamily="18" charset="0"/>
              </a:rPr>
              <a:t>中保留的时间，另一种基于数据在 </a:t>
            </a:r>
            <a:r>
              <a:rPr lang="en" altLang="zh-CN" sz="1300" dirty="0">
                <a:solidFill>
                  <a:schemeClr val="bg2"/>
                </a:solidFill>
                <a:latin typeface="Times New Roman" panose="02020603050405020304" pitchFamily="18" charset="0"/>
                <a:cs typeface="Times New Roman" panose="02020603050405020304" pitchFamily="18" charset="0"/>
              </a:rPr>
              <a:t>Stream </a:t>
            </a:r>
            <a:r>
              <a:rPr lang="zh-CN" altLang="en-US" sz="1300" dirty="0">
                <a:solidFill>
                  <a:schemeClr val="bg2"/>
                </a:solidFill>
                <a:latin typeface="Times New Roman" panose="02020603050405020304" pitchFamily="18" charset="0"/>
                <a:cs typeface="Times New Roman" panose="02020603050405020304" pitchFamily="18" charset="0"/>
              </a:rPr>
              <a:t>中存储的容量大小。</a:t>
            </a:r>
            <a:r>
              <a:rPr lang="en" altLang="zh-CN" sz="1300" dirty="0">
                <a:solidFill>
                  <a:schemeClr val="bg2"/>
                </a:solidFill>
                <a:latin typeface="Times New Roman" panose="02020603050405020304" pitchFamily="18" charset="0"/>
                <a:cs typeface="Times New Roman" panose="02020603050405020304" pitchFamily="18" charset="0"/>
              </a:rPr>
              <a:t>Pravega </a:t>
            </a:r>
            <a:r>
              <a:rPr lang="zh-CN" altLang="en-US" sz="1300" dirty="0">
                <a:solidFill>
                  <a:schemeClr val="bg2"/>
                </a:solidFill>
                <a:latin typeface="Times New Roman" panose="02020603050405020304" pitchFamily="18" charset="0"/>
                <a:cs typeface="Times New Roman" panose="02020603050405020304" pitchFamily="18" charset="0"/>
              </a:rPr>
              <a:t>异步将事件从第一层迁移到第二层，而读写客户端将不会感知到数据存储层级的变化，依然使用同样的 </a:t>
            </a:r>
            <a:r>
              <a:rPr lang="en" altLang="zh-CN" sz="1300" dirty="0">
                <a:solidFill>
                  <a:schemeClr val="bg2"/>
                </a:solidFill>
                <a:latin typeface="Times New Roman" panose="02020603050405020304" pitchFamily="18" charset="0"/>
                <a:cs typeface="Times New Roman" panose="02020603050405020304" pitchFamily="18" charset="0"/>
              </a:rPr>
              <a:t>Stream </a:t>
            </a:r>
            <a:r>
              <a:rPr lang="zh-CN" altLang="en-US" sz="1300" dirty="0">
                <a:solidFill>
                  <a:schemeClr val="bg2"/>
                </a:solidFill>
                <a:latin typeface="Times New Roman" panose="02020603050405020304" pitchFamily="18" charset="0"/>
                <a:cs typeface="Times New Roman" panose="02020603050405020304" pitchFamily="18" charset="0"/>
              </a:rPr>
              <a:t>抽象操作数据的读写。</a:t>
            </a:r>
          </a:p>
        </p:txBody>
      </p:sp>
      <p:pic>
        <p:nvPicPr>
          <p:cNvPr id="1034" name="Picture 10">
            <a:extLst>
              <a:ext uri="{FF2B5EF4-FFF2-40B4-BE49-F238E27FC236}">
                <a16:creationId xmlns:a16="http://schemas.microsoft.com/office/drawing/2014/main" id="{14091D3A-6A83-0C40-891E-D33D20B31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83" y="3014865"/>
            <a:ext cx="5714999" cy="2579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534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F87E-9C8D-4970-9927-239E13C53DB6}"/>
              </a:ext>
            </a:extLst>
          </p:cNvPr>
          <p:cNvSpPr>
            <a:spLocks noGrp="1"/>
          </p:cNvSpPr>
          <p:nvPr>
            <p:ph type="title"/>
          </p:nvPr>
        </p:nvSpPr>
        <p:spPr>
          <a:xfrm>
            <a:off x="381000" y="536956"/>
            <a:ext cx="11430000" cy="517001"/>
          </a:xfrm>
        </p:spPr>
        <p:txBody>
          <a:bodyPr/>
          <a:lstStyle/>
          <a:p>
            <a:r>
              <a:rPr lang="zh-CN" altLang="en-US" dirty="0"/>
              <a:t>创新项目的价值</a:t>
            </a:r>
            <a:endParaRPr lang="en-US" dirty="0"/>
          </a:p>
        </p:txBody>
      </p:sp>
      <p:sp>
        <p:nvSpPr>
          <p:cNvPr id="5" name="TextBox 3">
            <a:extLst>
              <a:ext uri="{FF2B5EF4-FFF2-40B4-BE49-F238E27FC236}">
                <a16:creationId xmlns:a16="http://schemas.microsoft.com/office/drawing/2014/main" id="{298E04A6-5D6D-4048-96FD-0A93E21E2CDC}"/>
              </a:ext>
            </a:extLst>
          </p:cNvPr>
          <p:cNvSpPr txBox="1"/>
          <p:nvPr/>
        </p:nvSpPr>
        <p:spPr>
          <a:xfrm>
            <a:off x="5512158" y="1815341"/>
            <a:ext cx="6298842" cy="4370427"/>
          </a:xfrm>
          <a:prstGeom prst="rect">
            <a:avLst/>
          </a:prstGeom>
          <a:noFill/>
        </p:spPr>
        <p:txBody>
          <a:bodyPr wrap="square" lIns="0" tIns="0" rIns="0" bIns="0" rtlCol="0">
            <a:spAutoFit/>
          </a:bodyPr>
          <a:lstStyle/>
          <a:p>
            <a:pPr marL="457200" indent="-457200">
              <a:buFont typeface="Arial" panose="020B0604020202020204" pitchFamily="34" charset="0"/>
              <a:buChar char="•"/>
            </a:pPr>
            <a:r>
              <a:rPr lang="zh-CN" altLang="en-US" sz="3200" b="1" dirty="0">
                <a:solidFill>
                  <a:schemeClr val="bg2"/>
                </a:solidFill>
                <a:latin typeface="Times New Roman" panose="02020603050405020304" pitchFamily="18" charset="0"/>
                <a:cs typeface="Times New Roman" panose="02020603050405020304" pitchFamily="18" charset="0"/>
              </a:rPr>
              <a:t>新的</a:t>
            </a:r>
            <a:r>
              <a:rPr lang="en" altLang="zh-CN" sz="3200" b="1" dirty="0">
                <a:solidFill>
                  <a:schemeClr val="bg2"/>
                </a:solidFill>
                <a:latin typeface="Times New Roman" panose="02020603050405020304" pitchFamily="18" charset="0"/>
                <a:cs typeface="Times New Roman" panose="02020603050405020304" pitchFamily="18" charset="0"/>
              </a:rPr>
              <a:t>Lakehouse</a:t>
            </a:r>
            <a:r>
              <a:rPr lang="zh-CN" altLang="en-US" sz="3200" b="1" dirty="0">
                <a:solidFill>
                  <a:schemeClr val="bg2"/>
                </a:solidFill>
                <a:latin typeface="Times New Roman" panose="02020603050405020304" pitchFamily="18" charset="0"/>
                <a:cs typeface="Times New Roman" panose="02020603050405020304" pitchFamily="18" charset="0"/>
              </a:rPr>
              <a:t>存储方案</a:t>
            </a:r>
          </a:p>
          <a:p>
            <a:r>
              <a:rPr lang="zh-CN" altLang="en-US" sz="1400" dirty="0">
                <a:solidFill>
                  <a:schemeClr val="bg2"/>
                </a:solidFill>
                <a:latin typeface="Times New Roman" panose="02020603050405020304" pitchFamily="18" charset="0"/>
                <a:cs typeface="Times New Roman" panose="02020603050405020304" pitchFamily="18" charset="0"/>
              </a:rPr>
              <a:t>新存储方案通过在 </a:t>
            </a:r>
            <a:r>
              <a:rPr lang="en-US" altLang="zh-CN" sz="1400" dirty="0">
                <a:solidFill>
                  <a:schemeClr val="bg2"/>
                </a:solidFill>
                <a:latin typeface="Times New Roman" panose="02020603050405020304" pitchFamily="18" charset="0"/>
                <a:cs typeface="Times New Roman" panose="02020603050405020304" pitchFamily="18" charset="0"/>
              </a:rPr>
              <a:t>Long-Term</a:t>
            </a:r>
            <a:r>
              <a:rPr lang="zh-CN" altLang="en-US" sz="1400" dirty="0">
                <a:solidFill>
                  <a:schemeClr val="bg2"/>
                </a:solidFill>
                <a:latin typeface="Times New Roman" panose="02020603050405020304" pitchFamily="18" charset="0"/>
                <a:cs typeface="Times New Roman" panose="02020603050405020304" pitchFamily="18" charset="0"/>
              </a:rPr>
              <a:t> 存储中使用 </a:t>
            </a:r>
            <a:r>
              <a:rPr lang="en" altLang="zh-CN" sz="1400" dirty="0">
                <a:solidFill>
                  <a:schemeClr val="bg2"/>
                </a:solidFill>
                <a:latin typeface="Times New Roman" panose="02020603050405020304" pitchFamily="18" charset="0"/>
                <a:cs typeface="Times New Roman" panose="02020603050405020304" pitchFamily="18" charset="0"/>
              </a:rPr>
              <a:t>Lakehouse</a:t>
            </a:r>
            <a:r>
              <a:rPr lang="zh-CN" altLang="en-US" sz="1400" dirty="0">
                <a:solidFill>
                  <a:schemeClr val="bg2"/>
                </a:solidFill>
                <a:latin typeface="Times New Roman" panose="02020603050405020304" pitchFamily="18" charset="0"/>
                <a:cs typeface="Times New Roman" panose="02020603050405020304" pitchFamily="18" charset="0"/>
              </a:rPr>
              <a:t> 存储事件数据，使用 </a:t>
            </a:r>
            <a:r>
              <a:rPr lang="en" altLang="zh-CN" sz="1400" dirty="0">
                <a:solidFill>
                  <a:schemeClr val="bg2"/>
                </a:solidFill>
                <a:latin typeface="Times New Roman" panose="02020603050405020304" pitchFamily="18" charset="0"/>
                <a:cs typeface="Times New Roman" panose="02020603050405020304" pitchFamily="18" charset="0"/>
              </a:rPr>
              <a:t>Apache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作为 </a:t>
            </a:r>
            <a:r>
              <a:rPr lang="en" altLang="zh-CN" sz="1400" dirty="0">
                <a:solidFill>
                  <a:schemeClr val="bg2"/>
                </a:solidFill>
                <a:latin typeface="Times New Roman" panose="02020603050405020304" pitchFamily="18" charset="0"/>
                <a:cs typeface="Times New Roman" panose="02020603050405020304" pitchFamily="18" charset="0"/>
              </a:rPr>
              <a:t>Lakehouse</a:t>
            </a:r>
            <a:r>
              <a:rPr lang="zh-CN" altLang="en-US" sz="1400" dirty="0">
                <a:solidFill>
                  <a:schemeClr val="bg2"/>
                </a:solidFill>
                <a:latin typeface="Times New Roman" panose="02020603050405020304" pitchFamily="18" charset="0"/>
                <a:cs typeface="Times New Roman" panose="02020603050405020304" pitchFamily="18" charset="0"/>
              </a:rPr>
              <a:t>存储原因如下：</a:t>
            </a:r>
          </a:p>
          <a:p>
            <a:pPr marL="342900" indent="-342900">
              <a:buFont typeface="+mj-lt"/>
              <a:buAutoNum type="arabicPeriod"/>
            </a:pPr>
            <a:r>
              <a:rPr lang="zh-CN" altLang="en-US" sz="1400" dirty="0">
                <a:solidFill>
                  <a:schemeClr val="bg2"/>
                </a:solidFill>
                <a:latin typeface="Times New Roman" panose="02020603050405020304" pitchFamily="18" charset="0"/>
                <a:cs typeface="Times New Roman" panose="02020603050405020304" pitchFamily="18" charset="0"/>
              </a:rPr>
              <a:t>云提供商例如阿里云，亚马逊在 </a:t>
            </a:r>
            <a:r>
              <a:rPr lang="en" altLang="zh-CN" sz="1400" dirty="0">
                <a:solidFill>
                  <a:schemeClr val="bg2"/>
                </a:solidFill>
                <a:latin typeface="Times New Roman" panose="02020603050405020304" pitchFamily="18" charset="0"/>
                <a:cs typeface="Times New Roman" panose="02020603050405020304" pitchFamily="18" charset="0"/>
              </a:rPr>
              <a:t>Apache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提供很好的支持。</a:t>
            </a:r>
          </a:p>
          <a:p>
            <a:pPr marL="342900" indent="-342900">
              <a:buFont typeface="+mj-lt"/>
              <a:buAutoNum type="arabicPeriod"/>
            </a:pPr>
            <a:r>
              <a:rPr lang="en" altLang="zh-CN" sz="1400" dirty="0">
                <a:solidFill>
                  <a:schemeClr val="bg2"/>
                </a:solidFill>
                <a:latin typeface="Times New Roman" panose="02020603050405020304" pitchFamily="18" charset="0"/>
                <a:cs typeface="Times New Roman" panose="02020603050405020304" pitchFamily="18" charset="0"/>
              </a:rPr>
              <a:t>Apache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已经作为顶级项目毕业。</a:t>
            </a:r>
          </a:p>
          <a:p>
            <a:pPr marL="342900" indent="-342900">
              <a:buFont typeface="+mj-lt"/>
              <a:buAutoNum type="arabicPeriod"/>
            </a:pPr>
            <a:r>
              <a:rPr lang="en" altLang="zh-CN" sz="1400" dirty="0">
                <a:solidFill>
                  <a:schemeClr val="bg2"/>
                </a:solidFill>
                <a:latin typeface="Times New Roman" panose="02020603050405020304" pitchFamily="18" charset="0"/>
                <a:cs typeface="Times New Roman" panose="02020603050405020304" pitchFamily="18" charset="0"/>
              </a:rPr>
              <a:t>Apache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同时支持 </a:t>
            </a:r>
            <a:r>
              <a:rPr lang="en" altLang="zh-CN" sz="1400" dirty="0">
                <a:solidFill>
                  <a:schemeClr val="bg2"/>
                </a:solidFill>
                <a:latin typeface="Times New Roman" panose="02020603050405020304" pitchFamily="18" charset="0"/>
                <a:cs typeface="Times New Roman" panose="02020603050405020304" pitchFamily="18" charset="0"/>
              </a:rPr>
              <a:t>Spark</a:t>
            </a:r>
            <a:r>
              <a:rPr lang="zh-CN" altLang="en-US" sz="1400" dirty="0">
                <a:solidFill>
                  <a:schemeClr val="bg2"/>
                </a:solidFill>
                <a:latin typeface="Times New Roman" panose="02020603050405020304" pitchFamily="18" charset="0"/>
                <a:cs typeface="Times New Roman" panose="02020603050405020304" pitchFamily="18" charset="0"/>
              </a:rPr>
              <a:t> 和 </a:t>
            </a:r>
            <a:r>
              <a:rPr lang="en" altLang="zh-CN" sz="1400" dirty="0" err="1">
                <a:solidFill>
                  <a:schemeClr val="bg2"/>
                </a:solidFill>
                <a:latin typeface="Times New Roman" panose="02020603050405020304" pitchFamily="18" charset="0"/>
                <a:cs typeface="Times New Roman" panose="02020603050405020304" pitchFamily="18" charset="0"/>
              </a:rPr>
              <a:t>Flink</a:t>
            </a:r>
            <a:r>
              <a:rPr lang="zh-CN" altLang="en-US" sz="1400" dirty="0">
                <a:solidFill>
                  <a:schemeClr val="bg2"/>
                </a:solidFill>
                <a:latin typeface="Times New Roman" panose="02020603050405020304" pitchFamily="18" charset="0"/>
                <a:cs typeface="Times New Roman" panose="02020603050405020304" pitchFamily="18" charset="0"/>
              </a:rPr>
              <a:t> 计算引擎，同时在中国有一个相当活跃的社区。</a:t>
            </a:r>
          </a:p>
          <a:p>
            <a:pPr marL="285750" indent="-285750">
              <a:buFont typeface="Arial" panose="020B0604020202020204" pitchFamily="34" charset="0"/>
              <a:buChar char="•"/>
            </a:pPr>
            <a:r>
              <a:rPr lang="zh-CN" altLang="en-US" sz="1400" dirty="0">
                <a:solidFill>
                  <a:schemeClr val="bg2"/>
                </a:solidFill>
                <a:latin typeface="Times New Roman" panose="02020603050405020304" pitchFamily="18" charset="0"/>
                <a:cs typeface="Times New Roman" panose="02020603050405020304" pitchFamily="18" charset="0"/>
              </a:rPr>
              <a:t>新的存储布局</a:t>
            </a:r>
          </a:p>
          <a:p>
            <a:r>
              <a:rPr lang="zh-CN" altLang="en-US" sz="1400" dirty="0">
                <a:solidFill>
                  <a:schemeClr val="bg2"/>
                </a:solidFill>
                <a:latin typeface="Times New Roman" panose="02020603050405020304" pitchFamily="18" charset="0"/>
                <a:cs typeface="Times New Roman" panose="02020603050405020304" pitchFamily="18" charset="0"/>
              </a:rPr>
              <a:t>降层段的元数据和数据直接存储在 </a:t>
            </a:r>
            <a:r>
              <a:rPr lang="en-US" altLang="zh-CN" sz="1400" dirty="0">
                <a:solidFill>
                  <a:schemeClr val="bg2"/>
                </a:solidFill>
                <a:latin typeface="Times New Roman" panose="02020603050405020304" pitchFamily="18" charset="0"/>
                <a:cs typeface="Times New Roman" panose="02020603050405020304" pitchFamily="18" charset="0"/>
              </a:rPr>
              <a:t>Long-Term</a:t>
            </a:r>
            <a:r>
              <a:rPr lang="zh-CN" altLang="en-US" sz="1400" dirty="0">
                <a:solidFill>
                  <a:schemeClr val="bg2"/>
                </a:solidFill>
                <a:latin typeface="Times New Roman" panose="02020603050405020304" pitchFamily="18" charset="0"/>
                <a:cs typeface="Times New Roman" panose="02020603050405020304" pitchFamily="18" charset="0"/>
              </a:rPr>
              <a:t> 存储中。虽然是 </a:t>
            </a:r>
            <a:r>
              <a:rPr lang="en-US" altLang="zh-CN" sz="1400" dirty="0">
                <a:solidFill>
                  <a:schemeClr val="bg2"/>
                </a:solidFill>
                <a:latin typeface="Times New Roman" panose="02020603050405020304" pitchFamily="18" charset="0"/>
                <a:cs typeface="Times New Roman" panose="02020603050405020304" pitchFamily="18" charset="0"/>
              </a:rPr>
              <a:t>Append</a:t>
            </a:r>
            <a:r>
              <a:rPr lang="zh-CN" altLang="en-US" sz="1400" dirty="0">
                <a:solidFill>
                  <a:schemeClr val="bg2"/>
                </a:solidFill>
                <a:latin typeface="Times New Roman" panose="02020603050405020304" pitchFamily="18" charset="0"/>
                <a:cs typeface="Times New Roman" panose="02020603050405020304" pitchFamily="18" charset="0"/>
              </a:rPr>
              <a:t> </a:t>
            </a:r>
            <a:r>
              <a:rPr lang="en-US" altLang="zh-CN" sz="1400" dirty="0">
                <a:solidFill>
                  <a:schemeClr val="bg2"/>
                </a:solidFill>
                <a:latin typeface="Times New Roman" panose="02020603050405020304" pitchFamily="18" charset="0"/>
                <a:cs typeface="Times New Roman" panose="02020603050405020304" pitchFamily="18" charset="0"/>
              </a:rPr>
              <a:t>Only</a:t>
            </a:r>
            <a:r>
              <a:rPr lang="zh-CN" altLang="en-US" sz="1400" dirty="0">
                <a:solidFill>
                  <a:schemeClr val="bg2"/>
                </a:solidFill>
                <a:latin typeface="Times New Roman" panose="02020603050405020304" pitchFamily="18" charset="0"/>
                <a:cs typeface="Times New Roman" panose="02020603050405020304" pitchFamily="18" charset="0"/>
              </a:rPr>
              <a:t> 流。不必使用像 </a:t>
            </a:r>
            <a:r>
              <a:rPr lang="en" altLang="zh-CN" sz="1400" dirty="0">
                <a:solidFill>
                  <a:schemeClr val="bg2"/>
                </a:solidFill>
                <a:latin typeface="Times New Roman" panose="02020603050405020304" pitchFamily="18" charset="0"/>
                <a:cs typeface="Times New Roman" panose="02020603050405020304" pitchFamily="18" charset="0"/>
              </a:rPr>
              <a:t>Apache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这样的 </a:t>
            </a:r>
            <a:r>
              <a:rPr lang="en" altLang="zh-CN" sz="1400" dirty="0">
                <a:solidFill>
                  <a:schemeClr val="bg2"/>
                </a:solidFill>
                <a:latin typeface="Times New Roman" panose="02020603050405020304" pitchFamily="18" charset="0"/>
                <a:cs typeface="Times New Roman" panose="02020603050405020304" pitchFamily="18" charset="0"/>
              </a:rPr>
              <a:t>Lakehouse</a:t>
            </a:r>
            <a:r>
              <a:rPr lang="zh-CN" altLang="en-US" sz="1400" dirty="0">
                <a:solidFill>
                  <a:schemeClr val="bg2"/>
                </a:solidFill>
                <a:latin typeface="Times New Roman" panose="02020603050405020304" pitchFamily="18" charset="0"/>
                <a:cs typeface="Times New Roman" panose="02020603050405020304" pitchFamily="18" charset="0"/>
              </a:rPr>
              <a:t> 存储库。如果将元数据存储在 </a:t>
            </a:r>
            <a:r>
              <a:rPr lang="en-US" altLang="zh-CN" sz="1400" dirty="0">
                <a:solidFill>
                  <a:schemeClr val="bg2"/>
                </a:solidFill>
                <a:latin typeface="Times New Roman" panose="02020603050405020304" pitchFamily="18" charset="0"/>
                <a:cs typeface="Times New Roman" panose="02020603050405020304" pitchFamily="18" charset="0"/>
              </a:rPr>
              <a:t>Long-Term</a:t>
            </a:r>
            <a:r>
              <a:rPr lang="zh-CN" altLang="en-US" sz="1400" dirty="0">
                <a:solidFill>
                  <a:schemeClr val="bg2"/>
                </a:solidFill>
                <a:latin typeface="Times New Roman" panose="02020603050405020304" pitchFamily="18" charset="0"/>
                <a:cs typeface="Times New Roman" panose="02020603050405020304" pitchFamily="18" charset="0"/>
              </a:rPr>
              <a:t> 存储中，则使用 </a:t>
            </a:r>
            <a:r>
              <a:rPr lang="en" altLang="zh-CN" sz="1400" dirty="0">
                <a:solidFill>
                  <a:schemeClr val="bg2"/>
                </a:solidFill>
                <a:latin typeface="Times New Roman" panose="02020603050405020304" pitchFamily="18" charset="0"/>
                <a:cs typeface="Times New Roman" panose="02020603050405020304" pitchFamily="18" charset="0"/>
              </a:rPr>
              <a:t>Lakehouse</a:t>
            </a:r>
            <a:r>
              <a:rPr lang="zh-CN" altLang="en-US" sz="1400" dirty="0">
                <a:solidFill>
                  <a:schemeClr val="bg2"/>
                </a:solidFill>
                <a:latin typeface="Times New Roman" panose="02020603050405020304" pitchFamily="18" charset="0"/>
                <a:cs typeface="Times New Roman" panose="02020603050405020304" pitchFamily="18" charset="0"/>
              </a:rPr>
              <a:t> 存储库确保 </a:t>
            </a:r>
            <a:r>
              <a:rPr lang="en" altLang="zh-CN" sz="1400" dirty="0">
                <a:solidFill>
                  <a:schemeClr val="bg2"/>
                </a:solidFill>
                <a:latin typeface="Times New Roman" panose="02020603050405020304" pitchFamily="18" charset="0"/>
                <a:cs typeface="Times New Roman" panose="02020603050405020304" pitchFamily="18" charset="0"/>
              </a:rPr>
              <a:t>ACID</a:t>
            </a:r>
            <a:r>
              <a:rPr lang="zh-CN" altLang="en-US" sz="1400" dirty="0">
                <a:solidFill>
                  <a:schemeClr val="bg2"/>
                </a:solidFill>
                <a:latin typeface="Times New Roman" panose="02020603050405020304" pitchFamily="18" charset="0"/>
                <a:cs typeface="Times New Roman" panose="02020603050405020304" pitchFamily="18" charset="0"/>
              </a:rPr>
              <a:t> 更有意义。</a:t>
            </a:r>
            <a:endParaRPr lang="en-US" altLang="zh-CN" sz="1400" dirty="0">
              <a:solidFill>
                <a:schemeClr val="bg2"/>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sz="1400" dirty="0">
                <a:solidFill>
                  <a:schemeClr val="bg2"/>
                </a:solidFill>
                <a:latin typeface="Times New Roman" panose="02020603050405020304" pitchFamily="18" charset="0"/>
                <a:cs typeface="Times New Roman" panose="02020603050405020304" pitchFamily="18" charset="0"/>
              </a:rPr>
              <a:t>将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表作为 </a:t>
            </a:r>
            <a:r>
              <a:rPr lang="en-US" altLang="zh-CN" sz="1400" dirty="0">
                <a:solidFill>
                  <a:schemeClr val="bg2"/>
                </a:solidFill>
                <a:latin typeface="Times New Roman" panose="02020603050405020304" pitchFamily="18" charset="0"/>
                <a:cs typeface="Times New Roman" panose="02020603050405020304" pitchFamily="18" charset="0"/>
              </a:rPr>
              <a:t>Pravega</a:t>
            </a:r>
            <a:r>
              <a:rPr lang="en" altLang="zh-CN" sz="1400" dirty="0">
                <a:solidFill>
                  <a:schemeClr val="bg2"/>
                </a:solidFill>
                <a:latin typeface="Times New Roman" panose="02020603050405020304" pitchFamily="18" charset="0"/>
                <a:cs typeface="Times New Roman" panose="02020603050405020304" pitchFamily="18" charset="0"/>
              </a:rPr>
              <a:t> Stream</a:t>
            </a:r>
          </a:p>
          <a:p>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在不同的即时时间维护对表执行的所有操作的时间轴有助于提供表的即时视图，同时支持按</a:t>
            </a:r>
            <a:r>
              <a:rPr lang="en-US" altLang="zh-CN" sz="1400" dirty="0">
                <a:solidFill>
                  <a:schemeClr val="bg2"/>
                </a:solidFill>
                <a:latin typeface="Times New Roman" panose="02020603050405020304" pitchFamily="18" charset="0"/>
                <a:cs typeface="Times New Roman" panose="02020603050405020304" pitchFamily="18" charset="0"/>
              </a:rPr>
              <a:t>_</a:t>
            </a:r>
            <a:r>
              <a:rPr lang="en" altLang="zh-CN" sz="1400" dirty="0">
                <a:solidFill>
                  <a:schemeClr val="bg2"/>
                </a:solidFill>
                <a:latin typeface="Times New Roman" panose="02020603050405020304" pitchFamily="18" charset="0"/>
                <a:cs typeface="Times New Roman" panose="02020603050405020304" pitchFamily="18" charset="0"/>
              </a:rPr>
              <a:t>arrival_</a:t>
            </a:r>
            <a:r>
              <a:rPr lang="zh-CN" altLang="en-US" sz="1400" dirty="0">
                <a:solidFill>
                  <a:schemeClr val="bg2"/>
                </a:solidFill>
                <a:latin typeface="Times New Roman" panose="02020603050405020304" pitchFamily="18" charset="0"/>
                <a:cs typeface="Times New Roman" panose="02020603050405020304" pitchFamily="18" charset="0"/>
              </a:rPr>
              <a:t>顺序进行数据检索。</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支持从表中增量拉取变更。通过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表备份的</a:t>
            </a:r>
            <a:r>
              <a:rPr lang="en-US" altLang="zh-CN" sz="1400" dirty="0">
                <a:solidFill>
                  <a:schemeClr val="bg2"/>
                </a:solidFill>
                <a:latin typeface="Times New Roman" panose="02020603050405020304" pitchFamily="18" charset="0"/>
                <a:cs typeface="Times New Roman" panose="02020603050405020304" pitchFamily="18" charset="0"/>
              </a:rPr>
              <a:t>_</a:t>
            </a:r>
            <a:r>
              <a:rPr lang="en" altLang="zh-CN" sz="1400" dirty="0" err="1">
                <a:solidFill>
                  <a:schemeClr val="bg2"/>
                </a:solidFill>
                <a:latin typeface="Times New Roman" panose="02020603050405020304" pitchFamily="18" charset="0"/>
                <a:cs typeface="Times New Roman" panose="02020603050405020304" pitchFamily="18" charset="0"/>
              </a:rPr>
              <a:t>ReadOnly</a:t>
            </a:r>
            <a:r>
              <a:rPr lang="en" altLang="zh-CN" sz="1400" dirty="0">
                <a:solidFill>
                  <a:schemeClr val="bg2"/>
                </a:solidFill>
                <a:latin typeface="Times New Roman" panose="02020603050405020304" pitchFamily="18" charset="0"/>
                <a:cs typeface="Times New Roman" panose="02020603050405020304" pitchFamily="18" charset="0"/>
              </a:rPr>
              <a:t>_</a:t>
            </a:r>
            <a:r>
              <a:rPr lang="zh-CN" altLang="en-US" sz="1400" dirty="0">
                <a:solidFill>
                  <a:schemeClr val="bg2"/>
                </a:solidFill>
                <a:latin typeface="Times New Roman" panose="02020603050405020304" pitchFamily="18" charset="0"/>
                <a:cs typeface="Times New Roman" panose="02020603050405020304" pitchFamily="18" charset="0"/>
              </a:rPr>
              <a:t>主题，允许 </a:t>
            </a:r>
            <a:r>
              <a:rPr lang="en-US" altLang="zh-CN" sz="1400" dirty="0">
                <a:solidFill>
                  <a:schemeClr val="bg2"/>
                </a:solidFill>
                <a:latin typeface="Times New Roman" panose="02020603050405020304" pitchFamily="18" charset="0"/>
                <a:cs typeface="Times New Roman" panose="02020603050405020304" pitchFamily="18" charset="0"/>
              </a:rPr>
              <a:t>Application</a:t>
            </a:r>
            <a:r>
              <a:rPr lang="zh-CN" altLang="en-US" sz="1400" dirty="0">
                <a:solidFill>
                  <a:schemeClr val="bg2"/>
                </a:solidFill>
                <a:latin typeface="Times New Roman" panose="02020603050405020304" pitchFamily="18" charset="0"/>
                <a:cs typeface="Times New Roman" panose="02020603050405020304" pitchFamily="18" charset="0"/>
              </a:rPr>
              <a:t> 从 </a:t>
            </a:r>
            <a:r>
              <a:rPr lang="en-US" altLang="zh-CN" sz="1400" dirty="0">
                <a:solidFill>
                  <a:schemeClr val="bg2"/>
                </a:solidFill>
                <a:latin typeface="Times New Roman" panose="02020603050405020304" pitchFamily="18" charset="0"/>
                <a:cs typeface="Times New Roman" panose="02020603050405020304" pitchFamily="18" charset="0"/>
              </a:rPr>
              <a:t>Pravega</a:t>
            </a:r>
            <a:r>
              <a:rPr lang="zh-CN" altLang="en-US" sz="1400" dirty="0">
                <a:solidFill>
                  <a:schemeClr val="bg2"/>
                </a:solidFill>
                <a:latin typeface="Times New Roman" panose="02020603050405020304" pitchFamily="18" charset="0"/>
                <a:cs typeface="Times New Roman" panose="02020603050405020304" pitchFamily="18" charset="0"/>
              </a:rPr>
              <a:t> </a:t>
            </a:r>
            <a:r>
              <a:rPr lang="en-US" altLang="zh-CN" sz="1400" dirty="0">
                <a:solidFill>
                  <a:schemeClr val="bg2"/>
                </a:solidFill>
                <a:latin typeface="Times New Roman" panose="02020603050405020304" pitchFamily="18" charset="0"/>
                <a:cs typeface="Times New Roman" panose="02020603050405020304" pitchFamily="18" charset="0"/>
              </a:rPr>
              <a:t>Stream</a:t>
            </a:r>
            <a:r>
              <a:rPr lang="zh-CN" altLang="en-US" sz="1400" dirty="0">
                <a:solidFill>
                  <a:schemeClr val="bg2"/>
                </a:solidFill>
                <a:latin typeface="Times New Roman" panose="02020603050405020304" pitchFamily="18" charset="0"/>
                <a:cs typeface="Times New Roman" panose="02020603050405020304" pitchFamily="18" charset="0"/>
              </a:rPr>
              <a:t> 的 </a:t>
            </a:r>
            <a:r>
              <a:rPr lang="en-US" altLang="zh-CN" sz="1400" dirty="0">
                <a:solidFill>
                  <a:schemeClr val="bg2"/>
                </a:solidFill>
                <a:latin typeface="Times New Roman" panose="02020603050405020304" pitchFamily="18" charset="0"/>
                <a:cs typeface="Times New Roman" panose="02020603050405020304" pitchFamily="18" charset="0"/>
              </a:rPr>
              <a:t>Event</a:t>
            </a:r>
            <a:r>
              <a:rPr lang="zh-CN" altLang="en-US" sz="1400" dirty="0">
                <a:solidFill>
                  <a:schemeClr val="bg2"/>
                </a:solidFill>
                <a:latin typeface="Times New Roman" panose="02020603050405020304" pitchFamily="18" charset="0"/>
                <a:cs typeface="Times New Roman" panose="02020603050405020304" pitchFamily="18" charset="0"/>
              </a:rPr>
              <a:t> 传输 </a:t>
            </a:r>
            <a:r>
              <a:rPr lang="en"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表的变更。</a:t>
            </a:r>
            <a:endParaRPr lang="en-US" altLang="zh-CN" sz="1400" dirty="0">
              <a:solidFill>
                <a:schemeClr val="bg2"/>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sz="1400" dirty="0">
                <a:solidFill>
                  <a:schemeClr val="bg2"/>
                </a:solidFill>
                <a:latin typeface="Times New Roman" panose="02020603050405020304" pitchFamily="18" charset="0"/>
                <a:cs typeface="Times New Roman" panose="02020603050405020304" pitchFamily="18" charset="0"/>
              </a:rPr>
              <a:t>可扩展的元数据管理</a:t>
            </a:r>
            <a:endParaRPr lang="en-US" altLang="zh-CN" sz="1400" dirty="0">
              <a:solidFill>
                <a:schemeClr val="bg2"/>
              </a:solidFill>
              <a:latin typeface="Times New Roman" panose="02020603050405020304" pitchFamily="18" charset="0"/>
              <a:cs typeface="Times New Roman" panose="02020603050405020304" pitchFamily="18" charset="0"/>
            </a:endParaRPr>
          </a:p>
          <a:p>
            <a:r>
              <a:rPr lang="en-US" altLang="zh-CN" sz="1400" dirty="0">
                <a:solidFill>
                  <a:schemeClr val="bg2"/>
                </a:solidFill>
                <a:latin typeface="Times New Roman" panose="02020603050405020304" pitchFamily="18" charset="0"/>
                <a:cs typeface="Times New Roman" panose="02020603050405020304" pitchFamily="18" charset="0"/>
              </a:rPr>
              <a:t>Pravega</a:t>
            </a:r>
            <a:r>
              <a:rPr lang="zh-CN" altLang="en-US" sz="1400" dirty="0">
                <a:solidFill>
                  <a:schemeClr val="bg2"/>
                </a:solidFill>
                <a:latin typeface="Times New Roman" panose="02020603050405020304" pitchFamily="18" charset="0"/>
                <a:cs typeface="Times New Roman" panose="02020603050405020304" pitchFamily="18" charset="0"/>
              </a:rPr>
              <a:t> 元数据通过 </a:t>
            </a:r>
            <a:r>
              <a:rPr lang="en-US" altLang="zh-CN" sz="1400" dirty="0" err="1">
                <a:solidFill>
                  <a:schemeClr val="bg2"/>
                </a:solidFill>
                <a:latin typeface="Times New Roman" panose="02020603050405020304" pitchFamily="18" charset="0"/>
                <a:cs typeface="Times New Roman" panose="02020603050405020304" pitchFamily="18" charset="0"/>
              </a:rPr>
              <a:t>Hudi</a:t>
            </a:r>
            <a:r>
              <a:rPr lang="zh-CN" altLang="en-US" sz="1400" dirty="0">
                <a:solidFill>
                  <a:schemeClr val="bg2"/>
                </a:solidFill>
                <a:latin typeface="Times New Roman" panose="02020603050405020304" pitchFamily="18" charset="0"/>
                <a:cs typeface="Times New Roman" panose="02020603050405020304" pitchFamily="18" charset="0"/>
              </a:rPr>
              <a:t> 存储在</a:t>
            </a:r>
            <a:r>
              <a:rPr lang="en-US" altLang="zh-CN" sz="1400" dirty="0">
                <a:solidFill>
                  <a:schemeClr val="bg2"/>
                </a:solidFill>
                <a:latin typeface="Times New Roman" panose="02020603050405020304" pitchFamily="18" charset="0"/>
                <a:cs typeface="Times New Roman" panose="02020603050405020304" pitchFamily="18" charset="0"/>
              </a:rPr>
              <a:t>Long-Term</a:t>
            </a:r>
            <a:r>
              <a:rPr lang="zh-CN" altLang="en-US" sz="1400" dirty="0">
                <a:solidFill>
                  <a:schemeClr val="bg2"/>
                </a:solidFill>
                <a:latin typeface="Times New Roman" panose="02020603050405020304" pitchFamily="18" charset="0"/>
                <a:cs typeface="Times New Roman" panose="02020603050405020304" pitchFamily="18" charset="0"/>
              </a:rPr>
              <a:t> 存储，元数据管理只依赖 </a:t>
            </a:r>
            <a:r>
              <a:rPr lang="en-US" altLang="zh-CN" sz="1400" dirty="0">
                <a:solidFill>
                  <a:schemeClr val="bg2"/>
                </a:solidFill>
                <a:latin typeface="Times New Roman" panose="02020603050405020304" pitchFamily="18" charset="0"/>
                <a:cs typeface="Times New Roman" panose="02020603050405020304" pitchFamily="18" charset="0"/>
              </a:rPr>
              <a:t>Long-Term</a:t>
            </a:r>
            <a:r>
              <a:rPr lang="zh-CN" altLang="en-US" sz="1400" dirty="0">
                <a:solidFill>
                  <a:schemeClr val="bg2"/>
                </a:solidFill>
                <a:latin typeface="Times New Roman" panose="02020603050405020304" pitchFamily="18" charset="0"/>
                <a:cs typeface="Times New Roman" panose="02020603050405020304" pitchFamily="18" charset="0"/>
              </a:rPr>
              <a:t> 存储来存储元数据 </a:t>
            </a:r>
            <a:r>
              <a:rPr lang="en-US" altLang="zh-CN" sz="1400" dirty="0">
                <a:solidFill>
                  <a:schemeClr val="bg2"/>
                </a:solidFill>
                <a:latin typeface="Times New Roman" panose="02020603050405020304" pitchFamily="18" charset="0"/>
                <a:cs typeface="Times New Roman" panose="02020603050405020304" pitchFamily="18" charset="0"/>
              </a:rPr>
              <a:t>Table</a:t>
            </a:r>
            <a:r>
              <a:rPr lang="zh-CN" altLang="en-US" sz="1400" dirty="0">
                <a:solidFill>
                  <a:schemeClr val="bg2"/>
                </a:solidFill>
                <a:latin typeface="Times New Roman" panose="02020603050405020304" pitchFamily="18" charset="0"/>
                <a:cs typeface="Times New Roman" panose="02020603050405020304" pitchFamily="18" charset="0"/>
              </a:rPr>
              <a:t> </a:t>
            </a:r>
            <a:r>
              <a:rPr lang="en-US" altLang="zh-CN" sz="1400" dirty="0">
                <a:solidFill>
                  <a:schemeClr val="bg2"/>
                </a:solidFill>
                <a:latin typeface="Times New Roman" panose="02020603050405020304" pitchFamily="18" charset="0"/>
                <a:cs typeface="Times New Roman" panose="02020603050405020304" pitchFamily="18" charset="0"/>
              </a:rPr>
              <a:t>Segments</a:t>
            </a:r>
            <a:r>
              <a:rPr lang="zh-CN" altLang="en-US" sz="1400" dirty="0">
                <a:solidFill>
                  <a:schemeClr val="bg2"/>
                </a:solidFill>
                <a:latin typeface="Times New Roman" panose="02020603050405020304" pitchFamily="18" charset="0"/>
                <a:cs typeface="Times New Roman" panose="02020603050405020304" pitchFamily="18" charset="0"/>
              </a:rPr>
              <a:t>。</a:t>
            </a:r>
          </a:p>
        </p:txBody>
      </p:sp>
      <p:pic>
        <p:nvPicPr>
          <p:cNvPr id="2050" name="Picture 2">
            <a:extLst>
              <a:ext uri="{FF2B5EF4-FFF2-40B4-BE49-F238E27FC236}">
                <a16:creationId xmlns:a16="http://schemas.microsoft.com/office/drawing/2014/main" id="{42FB94A8-A821-EF46-9071-32ABFC0F8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768" y="2149557"/>
            <a:ext cx="4977844" cy="4159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546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91837-FC19-4E2A-B12B-16AD5644CDE9}"/>
              </a:ext>
            </a:extLst>
          </p:cNvPr>
          <p:cNvSpPr>
            <a:spLocks noGrp="1"/>
          </p:cNvSpPr>
          <p:nvPr>
            <p:ph type="title"/>
          </p:nvPr>
        </p:nvSpPr>
        <p:spPr/>
        <p:txBody>
          <a:bodyPr/>
          <a:lstStyle/>
          <a:p>
            <a:endParaRPr lang="en-US"/>
          </a:p>
        </p:txBody>
      </p:sp>
      <p:sp>
        <p:nvSpPr>
          <p:cNvPr id="3" name="TextBox 2">
            <a:extLst>
              <a:ext uri="{FF2B5EF4-FFF2-40B4-BE49-F238E27FC236}">
                <a16:creationId xmlns:a16="http://schemas.microsoft.com/office/drawing/2014/main" id="{7D785D56-07DC-4784-B1D0-681284F2D172}"/>
              </a:ext>
            </a:extLst>
          </p:cNvPr>
          <p:cNvSpPr txBox="1"/>
          <p:nvPr/>
        </p:nvSpPr>
        <p:spPr>
          <a:xfrm>
            <a:off x="4119562" y="2714625"/>
            <a:ext cx="3952875" cy="738664"/>
          </a:xfrm>
          <a:prstGeom prst="rect">
            <a:avLst/>
          </a:prstGeom>
          <a:noFill/>
        </p:spPr>
        <p:txBody>
          <a:bodyPr wrap="square" lIns="0" tIns="0" rIns="0" bIns="0" rtlCol="0">
            <a:spAutoFit/>
          </a:bodyPr>
          <a:lstStyle/>
          <a:p>
            <a:pPr algn="ctr"/>
            <a:r>
              <a:rPr lang="en-US" altLang="zh-CN" sz="4800" dirty="0">
                <a:solidFill>
                  <a:schemeClr val="tx2"/>
                </a:solidFill>
              </a:rPr>
              <a:t>QA</a:t>
            </a:r>
            <a:endParaRPr lang="en-US" sz="4800" dirty="0">
              <a:solidFill>
                <a:schemeClr val="tx2"/>
              </a:solidFill>
            </a:endParaRPr>
          </a:p>
        </p:txBody>
      </p:sp>
    </p:spTree>
    <p:extLst>
      <p:ext uri="{BB962C8B-B14F-4D97-AF65-F5344CB8AC3E}">
        <p14:creationId xmlns:p14="http://schemas.microsoft.com/office/powerpoint/2010/main" val="2289092911"/>
      </p:ext>
    </p:extLst>
  </p:cSld>
  <p:clrMapOvr>
    <a:masterClrMapping/>
  </p:clrMapOvr>
</p:sld>
</file>

<file path=ppt/theme/theme1.xml><?xml version="1.0" encoding="utf-8"?>
<a:theme xmlns:a="http://schemas.openxmlformats.org/drawingml/2006/main" name="2021 Dell Tech template">
  <a:themeElements>
    <a:clrScheme name="Dell New VID">
      <a:dk1>
        <a:srgbClr val="444444"/>
      </a:dk1>
      <a:lt1>
        <a:srgbClr val="0076CE"/>
      </a:lt1>
      <a:dk2>
        <a:srgbClr val="FFFFFF"/>
      </a:dk2>
      <a:lt2>
        <a:srgbClr val="000000"/>
      </a:lt2>
      <a:accent1>
        <a:srgbClr val="00447C"/>
      </a:accent1>
      <a:accent2>
        <a:srgbClr val="6EA204"/>
      </a:accent2>
      <a:accent3>
        <a:srgbClr val="F2AF00"/>
      </a:accent3>
      <a:accent4>
        <a:srgbClr val="EE6411"/>
      </a:accent4>
      <a:accent5>
        <a:srgbClr val="CE1126"/>
      </a:accent5>
      <a:accent6>
        <a:srgbClr val="41B6E6"/>
      </a:accent6>
      <a:hlink>
        <a:srgbClr val="0076CE"/>
      </a:hlink>
      <a:folHlink>
        <a:srgbClr val="6E258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bg2"/>
          </a:solidFill>
        </a:ln>
      </a:spPr>
      <a:bodyPr rtlCol="0" anchor="ctr"/>
      <a:lstStyle>
        <a:defPPr algn="ctr">
          <a:defRPr sz="12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ctr">
          <a:defRPr sz="1800" dirty="0" smtClean="0"/>
        </a:defPPr>
      </a:lstStyle>
    </a:txDef>
  </a:objectDefaults>
  <a:extraClrSchemeLst/>
  <a:extLst>
    <a:ext uri="{05A4C25C-085E-4340-85A3-A5531E510DB2}">
      <thm15:themeFamily xmlns:thm15="http://schemas.microsoft.com/office/thememl/2012/main" name="P-18501_2020_ppt_template_v2.potx" id="{8EE0A804-4CB6-44EA-A4B4-C7D1EB27F55F}" vid="{F7FFB47B-E2F5-4219-83D1-256A9C1817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1567</TotalTime>
  <Words>1560</Words>
  <Application>Microsoft Macintosh PowerPoint</Application>
  <PresentationFormat>宽屏</PresentationFormat>
  <Paragraphs>48</Paragraphs>
  <Slides>8</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Arial</vt:lpstr>
      <vt:lpstr>Calibri</vt:lpstr>
      <vt:lpstr>Times New Roman</vt:lpstr>
      <vt:lpstr>Wingdings</vt:lpstr>
      <vt:lpstr>2021 Dell Tech template</vt:lpstr>
      <vt:lpstr>Pravega + Hudi = Lakehouse</vt:lpstr>
      <vt:lpstr>Agenda</vt:lpstr>
      <vt:lpstr>团队介绍</vt:lpstr>
      <vt:lpstr>创新项目概述</vt:lpstr>
      <vt:lpstr>创新项目概述</vt:lpstr>
      <vt:lpstr>创新项目的价值</vt:lpstr>
      <vt:lpstr>创新项目的价值</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Pravega创客大赛</dc:title>
  <dc:creator>Wang, Chao</dc:creator>
  <cp:lastModifiedBy>Microsoft Office User</cp:lastModifiedBy>
  <cp:revision>52</cp:revision>
  <dcterms:created xsi:type="dcterms:W3CDTF">2021-08-16T07:01:36Z</dcterms:created>
  <dcterms:modified xsi:type="dcterms:W3CDTF">2021-08-22T00:59:28Z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7cb76b2-10b8-4fe1-93d4-2202842406cd_Enabled">
    <vt:lpwstr>True</vt:lpwstr>
  </property>
  <property fmtid="{D5CDD505-2E9C-101B-9397-08002B2CF9AE}" pid="3" name="MSIP_Label_17cb76b2-10b8-4fe1-93d4-2202842406cd_SiteId">
    <vt:lpwstr>945c199a-83a2-4e80-9f8c-5a91be5752dd</vt:lpwstr>
  </property>
  <property fmtid="{D5CDD505-2E9C-101B-9397-08002B2CF9AE}" pid="4" name="MSIP_Label_17cb76b2-10b8-4fe1-93d4-2202842406cd_Owner">
    <vt:lpwstr>Chao.Wang5@emc.com</vt:lpwstr>
  </property>
  <property fmtid="{D5CDD505-2E9C-101B-9397-08002B2CF9AE}" pid="5" name="MSIP_Label_17cb76b2-10b8-4fe1-93d4-2202842406cd_SetDate">
    <vt:lpwstr>2021-08-17T02:53:51.1535522Z</vt:lpwstr>
  </property>
  <property fmtid="{D5CDD505-2E9C-101B-9397-08002B2CF9AE}" pid="6" name="MSIP_Label_17cb76b2-10b8-4fe1-93d4-2202842406cd_Name">
    <vt:lpwstr>External Public</vt:lpwstr>
  </property>
  <property fmtid="{D5CDD505-2E9C-101B-9397-08002B2CF9AE}" pid="7" name="MSIP_Label_17cb76b2-10b8-4fe1-93d4-2202842406cd_Application">
    <vt:lpwstr>Microsoft Azure Information Protection</vt:lpwstr>
  </property>
  <property fmtid="{D5CDD505-2E9C-101B-9397-08002B2CF9AE}" pid="8" name="MSIP_Label_17cb76b2-10b8-4fe1-93d4-2202842406cd_ActionId">
    <vt:lpwstr>64001431-23f3-497f-8111-59d0685e4b8b</vt:lpwstr>
  </property>
  <property fmtid="{D5CDD505-2E9C-101B-9397-08002B2CF9AE}" pid="9" name="MSIP_Label_17cb76b2-10b8-4fe1-93d4-2202842406cd_Extended_MSFT_Method">
    <vt:lpwstr>Manual</vt:lpwstr>
  </property>
  <property fmtid="{D5CDD505-2E9C-101B-9397-08002B2CF9AE}" pid="10" name="aiplabel">
    <vt:lpwstr>External Public</vt:lpwstr>
  </property>
</Properties>
</file>